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ctr"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84048"/>
            <a:ext cx="1165388" cy="40233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1572768"/>
            <a:ext cx="82296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300" b="1" i="0">
                <a:solidFill>
                  <a:srgbClr val="002F5D"/>
                </a:solidFill>
                <a:latin typeface="Arial"/>
              </a:rPr>
              <a:t>LayerNorm &amp; RMSNorm</a:t>
            </a:r>
          </a:p>
          <a:p>
            <a:pPr algn="l">
              <a:spcAft>
                <a:spcPts val="200"/>
              </a:spcAft>
            </a:pPr>
            <a:r>
              <a:rPr sz="1900" b="0" i="0">
                <a:solidFill>
                  <a:srgbClr val="212121"/>
                </a:solidFill>
                <a:latin typeface="Arial"/>
              </a:rPr>
              <a:t>Optimised SSVE / SME primitives on Apple M4</a:t>
            </a:r>
          </a:p>
          <a:p>
            <a:pPr algn="l"/>
            <a:r>
              <a:rPr sz="1250" b="0" i="1">
                <a:solidFill>
                  <a:srgbClr val="595959"/>
                </a:solidFill>
                <a:latin typeface="Arial"/>
              </a:rPr>
              <a:t>verified · measured against a validated roofline · JIT-generated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11880"/>
            <a:ext cx="8229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 i="0">
                <a:solidFill>
                  <a:srgbClr val="212121"/>
                </a:solidFill>
                <a:latin typeface="Arial"/>
              </a:rPr>
              <a:t>Ketsia Kemkuini  ·  Mariza Sitcheu</a:t>
            </a:r>
          </a:p>
          <a:p>
            <a:pPr algn="l"/>
            <a:r>
              <a:rPr sz="1100" b="0" i="0">
                <a:solidFill>
                  <a:srgbClr val="595959"/>
                </a:solidFill>
                <a:latin typeface="Arial"/>
              </a:rPr>
              <a:t>Machine Learning Compilers Lab · Friedrich-Schiller-Universität Jena</a:t>
            </a:r>
          </a:p>
        </p:txBody>
      </p:sp>
      <p:pic>
        <p:nvPicPr>
          <p:cNvPr id="6" name="Picture 5" descr="stri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061204"/>
            <a:ext cx="9144000" cy="8229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46304"/>
            <a:ext cx="82296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595959"/>
                </a:solidFill>
                <a:latin typeface="Arial"/>
              </a:rPr>
              <a:t>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47472"/>
            <a:ext cx="82296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50" b="1" i="0">
                <a:solidFill>
                  <a:srgbClr val="002F5D"/>
                </a:solidFill>
                <a:latin typeface="Arial"/>
              </a:rPr>
              <a:t>The target: a kernel that runs in every Transformer block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49808"/>
            <a:ext cx="502920" cy="33020"/>
          </a:xfrm>
          <a:prstGeom prst="rect">
            <a:avLst/>
          </a:prstGeom>
          <a:solidFill>
            <a:srgbClr val="002F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941832"/>
            <a:ext cx="3977639" cy="1481328"/>
          </a:xfrm>
          <a:prstGeom prst="rect">
            <a:avLst/>
          </a:prstGeom>
          <a:solidFill>
            <a:srgbClr val="F4F8FD"/>
          </a:solidFill>
          <a:ln w="12700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tIns="73152" bIns="36576"/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2F5D"/>
                </a:solidFill>
                <a:latin typeface="Arial"/>
              </a:rPr>
              <a:t>LayerNorm</a:t>
            </a:r>
            <a:r>
              <a:rPr sz="950" b="0" i="1">
                <a:solidFill>
                  <a:srgbClr val="595959"/>
                </a:solidFill>
                <a:latin typeface="Arial"/>
              </a:rPr>
              <a:t>   BERT · GPT-2/3 · ’16</a:t>
            </a:r>
          </a:p>
          <a:p>
            <a:pPr algn="l">
              <a:lnSpc>
                <a:spcPct val="102000"/>
              </a:lnSpc>
              <a:spcAft>
                <a:spcPts val="250"/>
              </a:spcAft>
            </a:pPr>
            <a:r>
              <a:rPr sz="1000" b="1" i="0">
                <a:solidFill>
                  <a:srgbClr val="002F5D"/>
                </a:solidFill>
                <a:latin typeface="Arial"/>
              </a:rPr>
              <a:t>–  </a:t>
            </a:r>
            <a:r>
              <a:rPr sz="1050" b="0" i="0">
                <a:solidFill>
                  <a:srgbClr val="212121"/>
                </a:solidFill>
                <a:latin typeface="Consolas"/>
              </a:rPr>
              <a:t>y = γ ⊙ (x − μ) / √(σ² + ε) + β</a:t>
            </a:r>
          </a:p>
          <a:p>
            <a:pPr algn="l">
              <a:lnSpc>
                <a:spcPct val="102000"/>
              </a:lnSpc>
              <a:spcAft>
                <a:spcPts val="250"/>
              </a:spcAft>
            </a:pPr>
            <a:r>
              <a:rPr sz="1000" b="1" i="0">
                <a:solidFill>
                  <a:srgbClr val="002F5D"/>
                </a:solidFill>
                <a:latin typeface="Arial"/>
              </a:rPr>
              <a:t>–  </a:t>
            </a:r>
            <a:r>
              <a:rPr sz="1000" b="1" i="0">
                <a:solidFill>
                  <a:srgbClr val="212121"/>
                </a:solidFill>
                <a:latin typeface="Arial"/>
              </a:rPr>
              <a:t>two-pass</a:t>
            </a:r>
            <a:r>
              <a:rPr sz="1000" b="0" i="0">
                <a:solidFill>
                  <a:srgbClr val="212121"/>
                </a:solidFill>
                <a:latin typeface="Arial"/>
              </a:rPr>
              <a:t>: mean &amp; variance, then normalize–scale–shift</a:t>
            </a:r>
          </a:p>
          <a:p>
            <a:pPr algn="l">
              <a:lnSpc>
                <a:spcPct val="102000"/>
              </a:lnSpc>
              <a:spcAft>
                <a:spcPts val="250"/>
              </a:spcAft>
            </a:pPr>
            <a:r>
              <a:rPr sz="1000" b="1" i="0">
                <a:solidFill>
                  <a:srgbClr val="002F5D"/>
                </a:solidFill>
                <a:latin typeface="Arial"/>
              </a:rPr>
              <a:t>–  </a:t>
            </a:r>
            <a:r>
              <a:rPr sz="1000" b="0" i="0">
                <a:solidFill>
                  <a:srgbClr val="212121"/>
                </a:solidFill>
                <a:latin typeface="Arial"/>
              </a:rPr>
              <a:t>per element: </a:t>
            </a:r>
            <a:r>
              <a:rPr sz="1000" b="1" i="0">
                <a:solidFill>
                  <a:srgbClr val="212121"/>
                </a:solidFill>
                <a:latin typeface="Arial"/>
              </a:rPr>
              <a:t>3 reads + 1 write</a:t>
            </a:r>
            <a:r>
              <a:rPr sz="1000" b="0" i="0">
                <a:solidFill>
                  <a:srgbClr val="212121"/>
                </a:solidFill>
                <a:latin typeface="Arial"/>
              </a:rPr>
              <a:t>  (x for μ, x for σ², x to normalize)</a:t>
            </a:r>
          </a:p>
        </p:txBody>
      </p:sp>
      <p:sp>
        <p:nvSpPr>
          <p:cNvPr id="6" name="Rectangle 5"/>
          <p:cNvSpPr/>
          <p:nvPr/>
        </p:nvSpPr>
        <p:spPr>
          <a:xfrm>
            <a:off x="4709159" y="941832"/>
            <a:ext cx="3977639" cy="1481328"/>
          </a:xfrm>
          <a:prstGeom prst="rect">
            <a:avLst/>
          </a:prstGeom>
          <a:solidFill>
            <a:srgbClr val="F4F8FD"/>
          </a:solidFill>
          <a:ln w="12700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tIns="73152" bIns="36576"/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2F5D"/>
                </a:solidFill>
                <a:latin typeface="Arial"/>
              </a:rPr>
              <a:t>RMSNorm</a:t>
            </a:r>
            <a:r>
              <a:rPr sz="950" b="0" i="1">
                <a:solidFill>
                  <a:srgbClr val="595959"/>
                </a:solidFill>
                <a:latin typeface="Arial"/>
              </a:rPr>
              <a:t>   LLaMA · Mistral · Gemma · ’19</a:t>
            </a:r>
          </a:p>
          <a:p>
            <a:pPr algn="l">
              <a:lnSpc>
                <a:spcPct val="102000"/>
              </a:lnSpc>
              <a:spcAft>
                <a:spcPts val="250"/>
              </a:spcAft>
            </a:pPr>
            <a:r>
              <a:rPr sz="1000" b="1" i="0">
                <a:solidFill>
                  <a:srgbClr val="002F5D"/>
                </a:solidFill>
                <a:latin typeface="Arial"/>
              </a:rPr>
              <a:t>–  </a:t>
            </a:r>
            <a:r>
              <a:rPr sz="1050" b="0" i="0">
                <a:solidFill>
                  <a:srgbClr val="212121"/>
                </a:solidFill>
                <a:latin typeface="Consolas"/>
              </a:rPr>
              <a:t>y = γ ⊙ x / √(mean(x²) + ε)</a:t>
            </a:r>
          </a:p>
          <a:p>
            <a:pPr algn="l">
              <a:lnSpc>
                <a:spcPct val="102000"/>
              </a:lnSpc>
              <a:spcAft>
                <a:spcPts val="250"/>
              </a:spcAft>
            </a:pPr>
            <a:r>
              <a:rPr sz="1000" b="1" i="0">
                <a:solidFill>
                  <a:srgbClr val="002F5D"/>
                </a:solidFill>
                <a:latin typeface="Arial"/>
              </a:rPr>
              <a:t>–  </a:t>
            </a:r>
            <a:r>
              <a:rPr sz="1000" b="1" i="0">
                <a:solidFill>
                  <a:srgbClr val="212121"/>
                </a:solidFill>
                <a:latin typeface="Arial"/>
              </a:rPr>
              <a:t>single statistic</a:t>
            </a:r>
            <a:r>
              <a:rPr sz="1000" b="0" i="0">
                <a:solidFill>
                  <a:srgbClr val="212121"/>
                </a:solidFill>
                <a:latin typeface="Arial"/>
              </a:rPr>
              <a:t>: one Σx² — no mean, no β</a:t>
            </a:r>
          </a:p>
          <a:p>
            <a:pPr algn="l">
              <a:lnSpc>
                <a:spcPct val="102000"/>
              </a:lnSpc>
              <a:spcAft>
                <a:spcPts val="250"/>
              </a:spcAft>
            </a:pPr>
            <a:r>
              <a:rPr sz="1000" b="1" i="0">
                <a:solidFill>
                  <a:srgbClr val="002F5D"/>
                </a:solidFill>
                <a:latin typeface="Arial"/>
              </a:rPr>
              <a:t>–  </a:t>
            </a:r>
            <a:r>
              <a:rPr sz="1000" b="0" i="0">
                <a:solidFill>
                  <a:srgbClr val="212121"/>
                </a:solidFill>
                <a:latin typeface="Arial"/>
              </a:rPr>
              <a:t>per element: </a:t>
            </a:r>
            <a:r>
              <a:rPr sz="1000" b="1" i="0">
                <a:solidFill>
                  <a:srgbClr val="212121"/>
                </a:solidFill>
                <a:latin typeface="Arial"/>
              </a:rPr>
              <a:t>2 reads + 1 write</a:t>
            </a:r>
            <a:r>
              <a:rPr sz="1000" b="0" i="0">
                <a:solidFill>
                  <a:srgbClr val="212121"/>
                </a:solidFill>
                <a:latin typeface="Arial"/>
              </a:rPr>
              <a:t>  — a structurally lighter kernel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969264"/>
          </a:xfrm>
          <a:prstGeom prst="rect">
            <a:avLst/>
          </a:prstGeom>
          <a:solidFill>
            <a:srgbClr val="E9F1FB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" y="2697480"/>
            <a:ext cx="7900416" cy="8046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0" i="0">
                <a:solidFill>
                  <a:srgbClr val="212121"/>
                </a:solidFill>
                <a:latin typeface="Arial"/>
              </a:rPr>
              <a:t>Run twice per layer, for every token — and </a:t>
            </a:r>
            <a:r>
              <a:rPr sz="1250" b="1" i="0">
                <a:solidFill>
                  <a:srgbClr val="002F5D"/>
                </a:solidFill>
                <a:latin typeface="Arial"/>
              </a:rPr>
              <a:t>memory-bandwidth-bound</a:t>
            </a:r>
            <a:r>
              <a:rPr sz="1250" b="0" i="0">
                <a:solidFill>
                  <a:srgbClr val="212121"/>
                </a:solidFill>
                <a:latin typeface="Arial"/>
              </a:rPr>
              <a:t>: ~1 FLOP per 8 bytes moved (FP32 read + write).</a:t>
            </a:r>
          </a:p>
          <a:p>
            <a:pPr algn="l"/>
            <a:r>
              <a:rPr sz="1250" b="0" i="0">
                <a:solidFill>
                  <a:srgbClr val="212121"/>
                </a:solidFill>
                <a:latin typeface="Arial"/>
              </a:rPr>
              <a:t>So the metric is </a:t>
            </a:r>
            <a:r>
              <a:rPr sz="1250" b="1" i="0">
                <a:solidFill>
                  <a:srgbClr val="002F5D"/>
                </a:solidFill>
                <a:latin typeface="Arial"/>
              </a:rPr>
              <a:t>effective GiB/s against a measured ceiling</a:t>
            </a:r>
            <a:r>
              <a:rPr sz="1250" b="0" i="0">
                <a:solidFill>
                  <a:srgbClr val="212121"/>
                </a:solidFill>
                <a:latin typeface="Arial"/>
              </a:rPr>
              <a:t> — not GFLOPS, and optimisation means moving fewer bytes, better.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7307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1">
                <a:solidFill>
                  <a:srgbClr val="595959"/>
                </a:solidFill>
                <a:latin typeface="Arial"/>
              </a:rPr>
              <a:t>Deliverable: hand-written SSVE + SME/ZA kernels for both norms → JIT-emitted by mini_jit → composable as a TEIR primitive.</a:t>
            </a:r>
          </a:p>
        </p:txBody>
      </p:sp>
      <p:pic>
        <p:nvPicPr>
          <p:cNvPr id="10" name="Picture 9" descr="stri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088636"/>
            <a:ext cx="9144000" cy="5486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4832604"/>
            <a:ext cx="58521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8A8A8A"/>
                </a:solidFill>
                <a:latin typeface="Arial"/>
              </a:rPr>
              <a:t>ML Compilers Lab — MLC-Norm · FSU Jena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66760" y="4832604"/>
            <a:ext cx="3657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46304"/>
            <a:ext cx="82296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595959"/>
                </a:solidFill>
                <a:latin typeface="Arial"/>
              </a:rPr>
              <a:t>STATE OF PRACTICE — CHECKED IN THE SOURCES, JUNE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47472"/>
            <a:ext cx="82296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50" b="1" i="0">
                <a:solidFill>
                  <a:srgbClr val="002F5D"/>
                </a:solidFill>
                <a:latin typeface="Arial"/>
              </a:rPr>
              <a:t>What production CPU inference code actually ships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49808"/>
            <a:ext cx="502920" cy="33020"/>
          </a:xfrm>
          <a:prstGeom prst="rect">
            <a:avLst/>
          </a:prstGeom>
          <a:solidFill>
            <a:srgbClr val="002F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896112"/>
            <a:ext cx="4041648" cy="1389888"/>
          </a:xfrm>
          <a:prstGeom prst="rect">
            <a:avLst/>
          </a:prstGeom>
          <a:solidFill>
            <a:srgbClr val="F4F8FD"/>
          </a:solidFill>
          <a:ln w="12700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tIns="73152" bIns="36576"/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2F5D"/>
                </a:solidFill>
                <a:latin typeface="Arial"/>
              </a:rPr>
              <a:t>PyTorch — ATen CPU</a:t>
            </a:r>
            <a:r>
              <a:rPr sz="950" b="0" i="1">
                <a:solidFill>
                  <a:srgbClr val="595959"/>
                </a:solidFill>
                <a:latin typeface="Arial"/>
              </a:rPr>
              <a:t>   LayerNorm</a:t>
            </a:r>
          </a:p>
          <a:p>
            <a:pPr algn="l">
              <a:lnSpc>
                <a:spcPct val="102000"/>
              </a:lnSpc>
              <a:spcAft>
                <a:spcPts val="250"/>
              </a:spcAft>
            </a:pPr>
            <a:r>
              <a:rPr sz="1000" b="1" i="0">
                <a:solidFill>
                  <a:srgbClr val="002F5D"/>
                </a:solidFill>
                <a:latin typeface="Arial"/>
              </a:rPr>
              <a:t>–  </a:t>
            </a:r>
            <a:r>
              <a:rPr sz="1000" b="0" i="0">
                <a:solidFill>
                  <a:srgbClr val="212121"/>
                </a:solidFill>
                <a:latin typeface="Arial"/>
              </a:rPr>
              <a:t>statistics: </a:t>
            </a:r>
            <a:r>
              <a:rPr sz="1000" b="1" i="0">
                <a:solidFill>
                  <a:srgbClr val="212121"/>
                </a:solidFill>
                <a:latin typeface="Arial"/>
              </a:rPr>
              <a:t>chunked Welford + cascade sums</a:t>
            </a:r>
            <a:r>
              <a:rPr sz="1000" b="0" i="0">
                <a:solidFill>
                  <a:srgbClr val="212121"/>
                </a:solidFill>
                <a:latin typeface="Arial"/>
              </a:rPr>
              <a:t>, vectorised (</a:t>
            </a:r>
            <a:r>
              <a:rPr sz="950" b="0" i="0">
                <a:solidFill>
                  <a:srgbClr val="212121"/>
                </a:solidFill>
                <a:latin typeface="Consolas"/>
              </a:rPr>
              <a:t>RowwiseMoments</a:t>
            </a:r>
            <a:r>
              <a:rPr sz="1000" b="0" i="0">
                <a:solidFill>
                  <a:srgbClr val="212121"/>
                </a:solidFill>
                <a:latin typeface="Arial"/>
              </a:rPr>
              <a:t>, chunk = 16)</a:t>
            </a:r>
          </a:p>
          <a:p>
            <a:pPr algn="l">
              <a:lnSpc>
                <a:spcPct val="102000"/>
              </a:lnSpc>
              <a:spcAft>
                <a:spcPts val="250"/>
              </a:spcAft>
            </a:pPr>
            <a:r>
              <a:rPr sz="1000" b="1" i="0">
                <a:solidFill>
                  <a:srgbClr val="002F5D"/>
                </a:solidFill>
                <a:latin typeface="Arial"/>
              </a:rPr>
              <a:t>–  </a:t>
            </a:r>
            <a:r>
              <a:rPr sz="1000" b="0" i="0">
                <a:solidFill>
                  <a:srgbClr val="212121"/>
                </a:solidFill>
                <a:latin typeface="Arial"/>
              </a:rPr>
              <a:t>normalize pass fully vectorised (</a:t>
            </a:r>
            <a:r>
              <a:rPr sz="950" b="0" i="0">
                <a:solidFill>
                  <a:srgbClr val="212121"/>
                </a:solidFill>
                <a:latin typeface="Consolas"/>
              </a:rPr>
              <a:t>vec::map3</a:t>
            </a:r>
            <a:r>
              <a:rPr sz="1000" b="0" i="0">
                <a:solidFill>
                  <a:srgbClr val="212121"/>
                </a:solidFill>
                <a:latin typeface="Arial"/>
              </a:rPr>
              <a:t>)</a:t>
            </a:r>
          </a:p>
          <a:p>
            <a:pPr algn="l">
              <a:lnSpc>
                <a:spcPct val="102000"/>
              </a:lnSpc>
              <a:spcAft>
                <a:spcPts val="250"/>
              </a:spcAft>
            </a:pPr>
            <a:r>
              <a:rPr sz="1000" b="1" i="0">
                <a:solidFill>
                  <a:srgbClr val="002F5D"/>
                </a:solidFill>
                <a:latin typeface="Arial"/>
              </a:rPr>
              <a:t>–  </a:t>
            </a:r>
            <a:r>
              <a:rPr sz="1000" b="0" i="0">
                <a:solidFill>
                  <a:srgbClr val="212121"/>
                </a:solidFill>
                <a:latin typeface="Arial"/>
              </a:rPr>
              <a:t>1/√ stays a </a:t>
            </a:r>
            <a:r>
              <a:rPr sz="1000" b="1" i="0">
                <a:solidFill>
                  <a:srgbClr val="212121"/>
                </a:solidFill>
                <a:latin typeface="Arial"/>
              </a:rPr>
              <a:t>scalar </a:t>
            </a:r>
            <a:r>
              <a:rPr sz="950" b="0" i="0">
                <a:solidFill>
                  <a:srgbClr val="212121"/>
                </a:solidFill>
                <a:latin typeface="Consolas"/>
              </a:rPr>
              <a:t>std::sqrt</a:t>
            </a:r>
            <a:r>
              <a:rPr sz="1000" b="0" i="0">
                <a:solidFill>
                  <a:srgbClr val="212121"/>
                </a:solidFill>
                <a:latin typeface="Arial"/>
              </a:rPr>
              <a:t> per row</a:t>
            </a:r>
          </a:p>
          <a:p>
            <a:pPr algn="l">
              <a:spcBef>
                <a:spcPts val="300"/>
              </a:spcBef>
            </a:pPr>
            <a:r>
              <a:rPr sz="800" b="0" i="0">
                <a:solidFill>
                  <a:srgbClr val="8A8A8A"/>
                </a:solidFill>
                <a:latin typeface="Consolas"/>
              </a:rPr>
              <a:t>aten/src/ATen/native/cpu/layer_norm_kernel.cpp · moments_utils.h</a:t>
            </a:r>
          </a:p>
        </p:txBody>
      </p:sp>
      <p:sp>
        <p:nvSpPr>
          <p:cNvPr id="6" name="Rectangle 5"/>
          <p:cNvSpPr/>
          <p:nvPr/>
        </p:nvSpPr>
        <p:spPr>
          <a:xfrm>
            <a:off x="4645152" y="896112"/>
            <a:ext cx="4041648" cy="1389888"/>
          </a:xfrm>
          <a:prstGeom prst="rect">
            <a:avLst/>
          </a:prstGeom>
          <a:solidFill>
            <a:srgbClr val="F4F8FD"/>
          </a:solidFill>
          <a:ln w="12700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tIns="73152" bIns="36576"/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2F5D"/>
                </a:solidFill>
                <a:latin typeface="Arial"/>
              </a:rPr>
              <a:t>llama.cpp / GGML</a:t>
            </a:r>
            <a:r>
              <a:rPr sz="950" b="0" i="1">
                <a:solidFill>
                  <a:srgbClr val="595959"/>
                </a:solidFill>
                <a:latin typeface="Arial"/>
              </a:rPr>
              <a:t>   RMSNorm</a:t>
            </a:r>
          </a:p>
          <a:p>
            <a:pPr algn="l">
              <a:lnSpc>
                <a:spcPct val="102000"/>
              </a:lnSpc>
              <a:spcAft>
                <a:spcPts val="250"/>
              </a:spcAft>
            </a:pPr>
            <a:r>
              <a:rPr sz="1000" b="1" i="0">
                <a:solidFill>
                  <a:srgbClr val="002F5D"/>
                </a:solidFill>
                <a:latin typeface="Arial"/>
              </a:rPr>
              <a:t>–  </a:t>
            </a:r>
            <a:r>
              <a:rPr sz="1000" b="0" i="0">
                <a:solidFill>
                  <a:srgbClr val="212121"/>
                </a:solidFill>
                <a:latin typeface="Arial"/>
              </a:rPr>
              <a:t>the Σx² reduction is a </a:t>
            </a:r>
            <a:r>
              <a:rPr sz="1000" b="1" i="0">
                <a:solidFill>
                  <a:srgbClr val="212121"/>
                </a:solidFill>
                <a:latin typeface="Arial"/>
              </a:rPr>
              <a:t>scalar loop, double accumulator</a:t>
            </a:r>
            <a:r>
              <a:rPr sz="1000" b="0" i="0">
                <a:solidFill>
                  <a:srgbClr val="212121"/>
                </a:solidFill>
                <a:latin typeface="Arial"/>
              </a:rPr>
              <a:t>  (</a:t>
            </a:r>
            <a:r>
              <a:rPr sz="950" b="0" i="1">
                <a:solidFill>
                  <a:srgbClr val="212121"/>
                </a:solidFill>
                <a:latin typeface="Arial"/>
              </a:rPr>
              <a:t>“worth switching to explicit SIMD?”</a:t>
            </a:r>
            <a:r>
              <a:rPr sz="1000" b="0" i="0">
                <a:solidFill>
                  <a:srgbClr val="212121"/>
                </a:solidFill>
                <a:latin typeface="Arial"/>
              </a:rPr>
              <a:t>)</a:t>
            </a:r>
          </a:p>
          <a:p>
            <a:pPr algn="l">
              <a:lnSpc>
                <a:spcPct val="102000"/>
              </a:lnSpc>
              <a:spcAft>
                <a:spcPts val="250"/>
              </a:spcAft>
            </a:pPr>
            <a:r>
              <a:rPr sz="1000" b="1" i="0">
                <a:solidFill>
                  <a:srgbClr val="002F5D"/>
                </a:solidFill>
                <a:latin typeface="Arial"/>
              </a:rPr>
              <a:t>–  </a:t>
            </a:r>
            <a:r>
              <a:rPr sz="1000" b="0" i="0">
                <a:solidFill>
                  <a:srgbClr val="212121"/>
                </a:solidFill>
                <a:latin typeface="Arial"/>
              </a:rPr>
              <a:t>normalize is SIMD; </a:t>
            </a:r>
            <a:r>
              <a:rPr sz="1000" b="1" i="0">
                <a:solidFill>
                  <a:srgbClr val="212121"/>
                </a:solidFill>
                <a:latin typeface="Arial"/>
              </a:rPr>
              <a:t>rms_norm × weight is fused</a:t>
            </a:r>
            <a:r>
              <a:rPr sz="1000" b="0" i="0">
                <a:solidFill>
                  <a:srgbClr val="212121"/>
                </a:solidFill>
                <a:latin typeface="Arial"/>
              </a:rPr>
              <a:t>; rows split across threads</a:t>
            </a:r>
          </a:p>
          <a:p>
            <a:pPr algn="l">
              <a:lnSpc>
                <a:spcPct val="102000"/>
              </a:lnSpc>
              <a:spcAft>
                <a:spcPts val="250"/>
              </a:spcAft>
            </a:pPr>
            <a:r>
              <a:rPr sz="1000" b="1" i="0">
                <a:solidFill>
                  <a:srgbClr val="002F5D"/>
                </a:solidFill>
                <a:latin typeface="Arial"/>
              </a:rPr>
              <a:t>–  </a:t>
            </a:r>
            <a:r>
              <a:rPr sz="1000" b="0" i="0">
                <a:solidFill>
                  <a:srgbClr val="212121"/>
                </a:solidFill>
                <a:latin typeface="Arial"/>
              </a:rPr>
              <a:t>multi-accumulator </a:t>
            </a:r>
            <a:r>
              <a:rPr sz="950" b="0" i="0">
                <a:solidFill>
                  <a:srgbClr val="212121"/>
                </a:solidFill>
                <a:latin typeface="Consolas"/>
              </a:rPr>
              <a:t>GGML_F32_ARR</a:t>
            </a:r>
            <a:r>
              <a:rPr sz="1000" b="0" i="0">
                <a:solidFill>
                  <a:srgbClr val="212121"/>
                </a:solidFill>
                <a:latin typeface="Arial"/>
              </a:rPr>
              <a:t> + SVE </a:t>
            </a:r>
            <a:r>
              <a:rPr sz="950" b="0" i="0">
                <a:solidFill>
                  <a:srgbClr val="212121"/>
                </a:solidFill>
                <a:latin typeface="Consolas"/>
              </a:rPr>
              <a:t>WHILELT</a:t>
            </a:r>
            <a:r>
              <a:rPr sz="1000" b="0" i="0">
                <a:solidFill>
                  <a:srgbClr val="212121"/>
                </a:solidFill>
                <a:latin typeface="Arial"/>
              </a:rPr>
              <a:t> live in the dot-product path</a:t>
            </a:r>
          </a:p>
          <a:p>
            <a:pPr algn="l">
              <a:spcBef>
                <a:spcPts val="300"/>
              </a:spcBef>
            </a:pPr>
            <a:r>
              <a:rPr sz="800" b="0" i="0">
                <a:solidFill>
                  <a:srgbClr val="8A8A8A"/>
                </a:solidFill>
                <a:latin typeface="Consolas"/>
              </a:rPr>
              <a:t>ggml/src/ggml-cpu/ops.cpp · vec.h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414016"/>
            <a:ext cx="4041648" cy="1389888"/>
          </a:xfrm>
          <a:prstGeom prst="rect">
            <a:avLst/>
          </a:prstGeom>
          <a:solidFill>
            <a:srgbClr val="F4F8FD"/>
          </a:solidFill>
          <a:ln w="12700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tIns="73152" bIns="36576"/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2F5D"/>
                </a:solidFill>
                <a:latin typeface="Arial"/>
              </a:rPr>
              <a:t>ExecuTorch</a:t>
            </a:r>
            <a:r>
              <a:rPr sz="950" b="0" i="1">
                <a:solidFill>
                  <a:srgbClr val="595959"/>
                </a:solidFill>
                <a:latin typeface="Arial"/>
              </a:rPr>
              <a:t>   mobile LayerNorm</a:t>
            </a:r>
          </a:p>
          <a:p>
            <a:pPr algn="l">
              <a:lnSpc>
                <a:spcPct val="102000"/>
              </a:lnSpc>
              <a:spcAft>
                <a:spcPts val="250"/>
              </a:spcAft>
            </a:pPr>
            <a:r>
              <a:rPr sz="1000" b="1" i="0">
                <a:solidFill>
                  <a:srgbClr val="002F5D"/>
                </a:solidFill>
                <a:latin typeface="Arial"/>
              </a:rPr>
              <a:t>–  </a:t>
            </a:r>
            <a:r>
              <a:rPr sz="1000" b="0" i="0">
                <a:solidFill>
                  <a:srgbClr val="212121"/>
                </a:solidFill>
                <a:latin typeface="Arial"/>
              </a:rPr>
              <a:t>ports the same </a:t>
            </a:r>
            <a:r>
              <a:rPr sz="950" b="0" i="0">
                <a:solidFill>
                  <a:srgbClr val="212121"/>
                </a:solidFill>
                <a:latin typeface="Consolas"/>
              </a:rPr>
              <a:t>RowwiseMoments</a:t>
            </a:r>
            <a:r>
              <a:rPr sz="1000" b="0" i="0">
                <a:solidFill>
                  <a:srgbClr val="212121"/>
                </a:solidFill>
                <a:latin typeface="Arial"/>
              </a:rPr>
              <a:t> + vectorised second pass</a:t>
            </a:r>
          </a:p>
          <a:p>
            <a:pPr algn="l">
              <a:lnSpc>
                <a:spcPct val="102000"/>
              </a:lnSpc>
              <a:spcAft>
                <a:spcPts val="250"/>
              </a:spcAft>
            </a:pPr>
            <a:r>
              <a:rPr sz="1000" b="1" i="0">
                <a:solidFill>
                  <a:srgbClr val="002F5D"/>
                </a:solidFill>
                <a:latin typeface="Arial"/>
              </a:rPr>
              <a:t>–  </a:t>
            </a:r>
            <a:r>
              <a:rPr sz="1000" b="0" i="0">
                <a:solidFill>
                  <a:srgbClr val="212121"/>
                </a:solidFill>
                <a:latin typeface="Arial"/>
              </a:rPr>
              <a:t>falls back to </a:t>
            </a:r>
            <a:r>
              <a:rPr sz="1000" b="1" i="0">
                <a:solidFill>
                  <a:srgbClr val="212121"/>
                </a:solidFill>
                <a:latin typeface="Arial"/>
              </a:rPr>
              <a:t>scalar below N = 256</a:t>
            </a:r>
            <a:r>
              <a:rPr sz="1000" b="0" i="0">
                <a:solidFill>
                  <a:srgbClr val="212121"/>
                </a:solidFill>
                <a:latin typeface="Arial"/>
              </a:rPr>
              <a:t> — SIMD setup overhead is real</a:t>
            </a:r>
          </a:p>
          <a:p>
            <a:pPr algn="l">
              <a:lnSpc>
                <a:spcPct val="102000"/>
              </a:lnSpc>
              <a:spcAft>
                <a:spcPts val="250"/>
              </a:spcAft>
            </a:pPr>
            <a:r>
              <a:rPr sz="1000" b="1" i="0">
                <a:solidFill>
                  <a:srgbClr val="002F5D"/>
                </a:solidFill>
                <a:latin typeface="Arial"/>
              </a:rPr>
              <a:t>–  </a:t>
            </a:r>
            <a:r>
              <a:rPr sz="1000" b="0" i="0">
                <a:solidFill>
                  <a:srgbClr val="212121"/>
                </a:solidFill>
                <a:latin typeface="Arial"/>
              </a:rPr>
              <a:t>small-shape regime is a first-class design concern</a:t>
            </a:r>
          </a:p>
          <a:p>
            <a:pPr algn="l">
              <a:spcBef>
                <a:spcPts val="300"/>
              </a:spcBef>
            </a:pPr>
            <a:r>
              <a:rPr sz="800" b="0" i="0">
                <a:solidFill>
                  <a:srgbClr val="8A8A8A"/>
                </a:solidFill>
                <a:latin typeface="Consolas"/>
              </a:rPr>
              <a:t>kernels/optimized/cpu/op_native_layer_norm.cpp</a:t>
            </a:r>
          </a:p>
        </p:txBody>
      </p:sp>
      <p:sp>
        <p:nvSpPr>
          <p:cNvPr id="8" name="Rectangle 7"/>
          <p:cNvSpPr/>
          <p:nvPr/>
        </p:nvSpPr>
        <p:spPr>
          <a:xfrm>
            <a:off x="4645152" y="2414016"/>
            <a:ext cx="4041648" cy="1389888"/>
          </a:xfrm>
          <a:prstGeom prst="rect">
            <a:avLst/>
          </a:prstGeom>
          <a:solidFill>
            <a:srgbClr val="F4F8FD"/>
          </a:solidFill>
          <a:ln w="12700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tIns="73152" bIns="36576"/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2F5D"/>
                </a:solidFill>
                <a:latin typeface="Arial"/>
              </a:rPr>
              <a:t>Arm KleidiAI</a:t>
            </a:r>
            <a:r>
              <a:rPr sz="950" b="0" i="1">
                <a:solidFill>
                  <a:srgbClr val="595959"/>
                </a:solidFill>
                <a:latin typeface="Arial"/>
              </a:rPr>
              <a:t>   SME2 micro-kernels</a:t>
            </a:r>
          </a:p>
          <a:p>
            <a:pPr algn="l">
              <a:lnSpc>
                <a:spcPct val="102000"/>
              </a:lnSpc>
              <a:spcAft>
                <a:spcPts val="250"/>
              </a:spcAft>
            </a:pPr>
            <a:r>
              <a:rPr sz="1000" b="1" i="0">
                <a:solidFill>
                  <a:srgbClr val="002F5D"/>
                </a:solidFill>
                <a:latin typeface="Arial"/>
              </a:rPr>
              <a:t>–  </a:t>
            </a:r>
            <a:r>
              <a:rPr sz="1000" b="0" i="0">
                <a:solidFill>
                  <a:srgbClr val="212121"/>
                </a:solidFill>
                <a:latin typeface="Arial"/>
              </a:rPr>
              <a:t>SME2 kernels are </a:t>
            </a:r>
            <a:r>
              <a:rPr sz="1000" b="1" i="0">
                <a:solidFill>
                  <a:srgbClr val="212121"/>
                </a:solidFill>
                <a:latin typeface="Arial"/>
              </a:rPr>
              <a:t>matmul (…_sme2_mopa) and depthwise conv only</a:t>
            </a:r>
          </a:p>
          <a:p>
            <a:pPr algn="l">
              <a:lnSpc>
                <a:spcPct val="102000"/>
              </a:lnSpc>
              <a:spcAft>
                <a:spcPts val="250"/>
              </a:spcAft>
            </a:pPr>
            <a:r>
              <a:rPr sz="1000" b="1" i="0">
                <a:solidFill>
                  <a:srgbClr val="002F5D"/>
                </a:solidFill>
                <a:latin typeface="Arial"/>
              </a:rPr>
              <a:t>–  </a:t>
            </a:r>
            <a:r>
              <a:rPr sz="1000" b="1" i="0">
                <a:solidFill>
                  <a:srgbClr val="212121"/>
                </a:solidFill>
                <a:latin typeface="Arial"/>
              </a:rPr>
              <a:t>no normalization micro-kernel</a:t>
            </a:r>
            <a:r>
              <a:rPr sz="1000" b="0" i="0">
                <a:solidFill>
                  <a:srgbClr val="212121"/>
                </a:solidFill>
                <a:latin typeface="Arial"/>
              </a:rPr>
              <a:t> — norms stay on the vector path</a:t>
            </a:r>
          </a:p>
          <a:p>
            <a:pPr algn="l">
              <a:lnSpc>
                <a:spcPct val="102000"/>
              </a:lnSpc>
              <a:spcAft>
                <a:spcPts val="250"/>
              </a:spcAft>
            </a:pPr>
            <a:r>
              <a:rPr sz="1000" b="1" i="0">
                <a:solidFill>
                  <a:srgbClr val="002F5D"/>
                </a:solidFill>
                <a:latin typeface="Arial"/>
              </a:rPr>
              <a:t>–  </a:t>
            </a:r>
            <a:r>
              <a:rPr sz="1000" b="0" i="0">
                <a:solidFill>
                  <a:srgbClr val="212121"/>
                </a:solidFill>
                <a:latin typeface="Arial"/>
              </a:rPr>
              <a:t>outer-product ZA accumulation ≠ a horizontal reduction</a:t>
            </a:r>
          </a:p>
          <a:p>
            <a:pPr algn="l">
              <a:spcBef>
                <a:spcPts val="300"/>
              </a:spcBef>
            </a:pPr>
            <a:r>
              <a:rPr sz="800" b="0" i="0">
                <a:solidFill>
                  <a:srgbClr val="8A8A8A"/>
                </a:solidFill>
                <a:latin typeface="Consolas"/>
              </a:rPr>
              <a:t>kai/ukernels/{matmul, dwconv}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913632"/>
            <a:ext cx="8229600" cy="512064"/>
          </a:xfrm>
          <a:prstGeom prst="rect">
            <a:avLst/>
          </a:prstGeom>
          <a:solidFill>
            <a:srgbClr val="002F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3968496"/>
            <a:ext cx="795528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Three questions to settle on M4:  broken reduction chains (GGML’s pattern) · Welford vs two-pass (ATen’s choice) · does SME’s ZA earn a norm kernel at all?</a:t>
            </a:r>
          </a:p>
        </p:txBody>
      </p:sp>
      <p:pic>
        <p:nvPicPr>
          <p:cNvPr id="11" name="Picture 10" descr="stri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088636"/>
            <a:ext cx="9144000" cy="5486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57200" y="4832604"/>
            <a:ext cx="58521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8A8A8A"/>
                </a:solidFill>
                <a:latin typeface="Arial"/>
              </a:rPr>
              <a:t>ML Compilers Lab — MLC-Norm · FSU Jena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66760" y="4832604"/>
            <a:ext cx="3657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46304"/>
            <a:ext cx="82296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595959"/>
                </a:solidFill>
                <a:latin typeface="Arial"/>
              </a:rPr>
              <a:t>DESIGN · 1 OF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47472"/>
            <a:ext cx="82296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50" b="1" i="0">
                <a:solidFill>
                  <a:srgbClr val="002F5D"/>
                </a:solidFill>
                <a:latin typeface="Arial"/>
              </a:rPr>
              <a:t>Matching the tool to the work — SSVE for the reduction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49808"/>
            <a:ext cx="502920" cy="33020"/>
          </a:xfrm>
          <a:prstGeom prst="rect">
            <a:avLst/>
          </a:prstGeom>
          <a:solidFill>
            <a:srgbClr val="002F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4480560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250" b="1" i="0">
                <a:solidFill>
                  <a:srgbClr val="002F5D"/>
                </a:solidFill>
                <a:latin typeface="Arial"/>
              </a:rPr>
              <a:t>•  </a:t>
            </a:r>
            <a:r>
              <a:rPr sz="1250" b="0" i="0">
                <a:solidFill>
                  <a:srgbClr val="212121"/>
                </a:solidFill>
                <a:latin typeface="Arial"/>
              </a:rPr>
              <a:t>The hot work is 1-D: </a:t>
            </a:r>
            <a:r>
              <a:rPr sz="1250" b="1" i="0">
                <a:solidFill>
                  <a:srgbClr val="212121"/>
                </a:solidFill>
                <a:latin typeface="Arial"/>
              </a:rPr>
              <a:t>per-row statistic + elementwise normalize</a:t>
            </a:r>
            <a:r>
              <a:rPr sz="1250" b="0" i="0">
                <a:solidFill>
                  <a:srgbClr val="212121"/>
                </a:solidFill>
                <a:latin typeface="Arial"/>
              </a:rPr>
              <a:t> — it touches every element, so it owns the bandwidth number.</a:t>
            </a:r>
          </a:p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250" b="1" i="0">
                <a:solidFill>
                  <a:srgbClr val="002F5D"/>
                </a:solidFill>
                <a:latin typeface="Arial"/>
              </a:rPr>
              <a:t>•  </a:t>
            </a:r>
            <a:r>
              <a:rPr sz="1250" b="1" i="0">
                <a:solidFill>
                  <a:srgbClr val="212121"/>
                </a:solidFill>
                <a:latin typeface="Arial"/>
              </a:rPr>
              <a:t>Vector-length-agnostic by construction</a:t>
            </a:r>
            <a:r>
              <a:rPr sz="1250" b="0" i="0">
                <a:solidFill>
                  <a:srgbClr val="212121"/>
                </a:solidFill>
                <a:latin typeface="Arial"/>
              </a:rPr>
              <a:t>: WHILELO predication handles any M — tails without branches; SVL is queried, never hard-coded.</a:t>
            </a:r>
          </a:p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250" b="1" i="0">
                <a:solidFill>
                  <a:srgbClr val="002F5D"/>
                </a:solidFill>
                <a:latin typeface="Arial"/>
              </a:rPr>
              <a:t>•  </a:t>
            </a:r>
            <a:r>
              <a:rPr sz="1250" b="1" i="0">
                <a:solidFill>
                  <a:srgbClr val="212121"/>
                </a:solidFill>
                <a:latin typeface="Arial"/>
              </a:rPr>
              <a:t>Column-major forces the loop order</a:t>
            </a:r>
            <a:r>
              <a:rPr sz="1250" b="0" i="0">
                <a:solidFill>
                  <a:srgbClr val="212121"/>
                </a:solidFill>
                <a:latin typeface="Arial"/>
              </a:rPr>
              <a:t>: gather loads are illegal in streaming mode without SMEFA64 (not exposed on M4 — SIGILL). Walk columns instead: every load is a contiguous LD1W of VL rows.</a:t>
            </a:r>
          </a:p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250" b="1" i="0">
                <a:solidFill>
                  <a:srgbClr val="002F5D"/>
                </a:solidFill>
                <a:latin typeface="Arial"/>
              </a:rPr>
              <a:t>•  </a:t>
            </a:r>
            <a:r>
              <a:rPr sz="1250" b="1" i="0">
                <a:solidFill>
                  <a:srgbClr val="212121"/>
                </a:solidFill>
                <a:latin typeface="Arial"/>
              </a:rPr>
              <a:t>One streaming region per call</a:t>
            </a:r>
            <a:r>
              <a:rPr sz="1250" b="0" i="0">
                <a:solidFill>
                  <a:srgbClr val="212121"/>
                </a:solidFill>
                <a:latin typeface="Arial"/>
              </a:rPr>
              <a:t> — SMSTART/SMSTOP cost real cycles; never toggled per row.</a:t>
            </a:r>
          </a:p>
        </p:txBody>
      </p:sp>
      <p:sp>
        <p:nvSpPr>
          <p:cNvPr id="6" name="Rectangle 5"/>
          <p:cNvSpPr/>
          <p:nvPr/>
        </p:nvSpPr>
        <p:spPr>
          <a:xfrm>
            <a:off x="5138928" y="950976"/>
            <a:ext cx="3547872" cy="2395728"/>
          </a:xfrm>
          <a:prstGeom prst="rect">
            <a:avLst/>
          </a:prstGeom>
          <a:solidFill>
            <a:srgbClr val="10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09728" rIns="73152" tIns="64008" bIns="36576"/>
          <a:lstStyle/>
          <a:p>
            <a:pPr algn="l">
              <a:spcAft>
                <a:spcPts val="400"/>
              </a:spcAft>
            </a:pPr>
            <a:r>
              <a:rPr sz="950" b="1">
                <a:solidFill>
                  <a:srgbClr val="9FD3FF"/>
                </a:solidFill>
                <a:latin typeface="Arial"/>
              </a:rPr>
              <a:t>RMSNorm V0 — reduction skeleton (rms_norm_ssve.S)</a:t>
            </a:r>
          </a:p>
          <a:p>
            <a:pPr algn="l">
              <a:spcAft>
                <a:spcPts val="100"/>
              </a:spcAft>
            </a:pPr>
            <a:r>
              <a:rPr sz="950">
                <a:solidFill>
                  <a:srgbClr val="DDE7F5"/>
                </a:solidFill>
                <a:latin typeface="Consolas"/>
              </a:rPr>
              <a:t>        smstart sm</a:t>
            </a:r>
            <a:r>
              <a:rPr sz="950" i="1">
                <a:solidFill>
                  <a:srgbClr val="7E97B5"/>
                </a:solidFill>
                <a:latin typeface="Consolas"/>
              </a:rPr>
              <a:t>        ; one region</a:t>
            </a:r>
          </a:p>
          <a:p>
            <a:pPr algn="l">
              <a:spcAft>
                <a:spcPts val="100"/>
              </a:spcAft>
            </a:pPr>
            <a:r>
              <a:rPr sz="950">
                <a:solidFill>
                  <a:srgbClr val="DDE7F5"/>
                </a:solidFill>
                <a:latin typeface="Consolas"/>
              </a:rPr>
              <a:t>.rows:  whilelo p1.s, x0, x22</a:t>
            </a:r>
            <a:r>
              <a:rPr sz="950" i="1">
                <a:solidFill>
                  <a:srgbClr val="7E97B5"/>
                </a:solidFill>
                <a:latin typeface="Consolas"/>
              </a:rPr>
              <a:t>  ; any SVL, any M</a:t>
            </a:r>
          </a:p>
          <a:p>
            <a:pPr algn="l">
              <a:spcAft>
                <a:spcPts val="100"/>
              </a:spcAft>
            </a:pPr>
            <a:r>
              <a:rPr sz="950">
                <a:solidFill>
                  <a:srgbClr val="DDE7F5"/>
                </a:solidFill>
                <a:latin typeface="Consolas"/>
              </a:rPr>
              <a:t>.cols:  ld1w  {z0.s}, p1/z, [x8]</a:t>
            </a:r>
            <a:r>
              <a:rPr sz="950" i="1">
                <a:solidFill>
                  <a:srgbClr val="7E97B5"/>
                </a:solidFill>
                <a:latin typeface="Consolas"/>
              </a:rPr>
              <a:t> ; contiguous</a:t>
            </a:r>
          </a:p>
          <a:p>
            <a:pPr algn="l">
              <a:spcAft>
                <a:spcPts val="100"/>
              </a:spcAft>
            </a:pPr>
            <a:r>
              <a:rPr sz="950">
                <a:solidFill>
                  <a:srgbClr val="DDE7F5"/>
                </a:solidFill>
                <a:latin typeface="Consolas"/>
              </a:rPr>
              <a:t>        fmla  z2.s, p1/m, z0.s, z0.s</a:t>
            </a:r>
          </a:p>
          <a:p>
            <a:pPr algn="l">
              <a:spcAft>
                <a:spcPts val="100"/>
              </a:spcAft>
            </a:pPr>
            <a:r>
              <a:rPr sz="950">
                <a:solidFill>
                  <a:srgbClr val="DDE7F5"/>
                </a:solidFill>
                <a:latin typeface="Consolas"/>
              </a:rPr>
              <a:t>        add   x8, x8, x24</a:t>
            </a:r>
            <a:r>
              <a:rPr sz="950" i="1">
                <a:solidFill>
                  <a:srgbClr val="7E97B5"/>
                </a:solidFill>
                <a:latin typeface="Consolas"/>
              </a:rPr>
              <a:t>     ; next column</a:t>
            </a:r>
          </a:p>
          <a:p>
            <a:pPr algn="l">
              <a:spcAft>
                <a:spcPts val="100"/>
              </a:spcAft>
            </a:pPr>
            <a:r>
              <a:rPr sz="950">
                <a:solidFill>
                  <a:srgbClr val="DDE7F5"/>
                </a:solidFill>
                <a:latin typeface="Consolas"/>
              </a:rPr>
              <a:t>        …</a:t>
            </a:r>
          </a:p>
          <a:p>
            <a:pPr algn="l">
              <a:spcAft>
                <a:spcPts val="100"/>
              </a:spcAft>
            </a:pPr>
            <a:r>
              <a:rPr sz="950">
                <a:solidFill>
                  <a:srgbClr val="DDE7F5"/>
                </a:solidFill>
                <a:latin typeface="Consolas"/>
              </a:rPr>
              <a:t>        incw  x0</a:t>
            </a:r>
            <a:r>
              <a:rPr sz="950" i="1">
                <a:solidFill>
                  <a:srgbClr val="7E97B5"/>
                </a:solidFill>
                <a:latin typeface="Consolas"/>
              </a:rPr>
              <a:t>            ; += VL</a:t>
            </a:r>
          </a:p>
          <a:p>
            <a:pPr algn="l">
              <a:spcAft>
                <a:spcPts val="100"/>
              </a:spcAft>
            </a:pPr>
            <a:r>
              <a:rPr sz="950">
                <a:solidFill>
                  <a:srgbClr val="DDE7F5"/>
                </a:solidFill>
                <a:latin typeface="Consolas"/>
              </a:rPr>
              <a:t>        addvl x19, x19, #1</a:t>
            </a:r>
          </a:p>
          <a:p>
            <a:pPr algn="l">
              <a:spcAft>
                <a:spcPts val="100"/>
              </a:spcAft>
            </a:pPr>
            <a:r>
              <a:rPr sz="950">
                <a:solidFill>
                  <a:srgbClr val="DDE7F5"/>
                </a:solidFill>
                <a:latin typeface="Consolas"/>
              </a:rPr>
              <a:t>        b.first .rows</a:t>
            </a:r>
          </a:p>
          <a:p>
            <a:pPr algn="l">
              <a:spcAft>
                <a:spcPts val="100"/>
              </a:spcAft>
            </a:pPr>
            <a:r>
              <a:rPr sz="950">
                <a:solidFill>
                  <a:srgbClr val="DDE7F5"/>
                </a:solidFill>
                <a:latin typeface="Consolas"/>
              </a:rPr>
              <a:t>        smstop sm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38928" y="3438144"/>
            <a:ext cx="354787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1">
                <a:solidFill>
                  <a:srgbClr val="595959"/>
                </a:solidFill>
                <a:latin typeface="Arial"/>
              </a:rPr>
              <a:t>Verified against the C++ reference before any GiB/s is reported — including large-magnitude stress inputs.</a:t>
            </a:r>
          </a:p>
        </p:txBody>
      </p:sp>
      <p:pic>
        <p:nvPicPr>
          <p:cNvPr id="8" name="Picture 7" descr="stri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088636"/>
            <a:ext cx="9144000" cy="5486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4832604"/>
            <a:ext cx="58521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8A8A8A"/>
                </a:solidFill>
                <a:latin typeface="Arial"/>
              </a:rPr>
              <a:t>ML Compilers Lab — MLC-Norm · FSU Jena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66760" y="4832604"/>
            <a:ext cx="3657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46304"/>
            <a:ext cx="82296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595959"/>
                </a:solidFill>
                <a:latin typeface="Arial"/>
              </a:rPr>
              <a:t>DESIGN · 2 OF 2 — HYPOTHESIS, WRITTEN BEFORE MEASURING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47472"/>
            <a:ext cx="82296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50" b="1" i="0">
                <a:solidFill>
                  <a:srgbClr val="002F5D"/>
                </a:solidFill>
                <a:latin typeface="Arial"/>
              </a:rPr>
              <a:t>Matching the tool to the work — what could ZA buy a norm?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49808"/>
            <a:ext cx="502920" cy="33020"/>
          </a:xfrm>
          <a:prstGeom prst="rect">
            <a:avLst/>
          </a:prstGeom>
          <a:solidFill>
            <a:srgbClr val="002F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896112"/>
            <a:ext cx="822960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212121"/>
                </a:solidFill>
                <a:latin typeface="Arial"/>
              </a:rPr>
              <a:t>A norm must see the whole row before it can normalize → V6 re-reads x in pass 2 (2R+1W; LayerNorm 3R+1W). </a:t>
            </a:r>
            <a:r>
              <a:rPr sz="1150" b="1" i="0">
                <a:solidFill>
                  <a:srgbClr val="002F5D"/>
                </a:solidFill>
                <a:latin typeface="Arial"/>
              </a:rPr>
              <a:t>32 Z-registers can’t hold a row block — but ZA adds ~4 KB of on-core storage.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810512"/>
            <a:ext cx="1371600" cy="2011680"/>
          </a:xfrm>
          <a:prstGeom prst="rect">
            <a:avLst/>
          </a:prstGeom>
          <a:solidFill>
            <a:srgbClr val="F4F8FD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1389888"/>
            <a:ext cx="17373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1" i="0">
                <a:solidFill>
                  <a:srgbClr val="595959"/>
                </a:solidFill>
                <a:latin typeface="Arial"/>
              </a:rPr>
              <a:t>DRAM — x (col-major)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2560320"/>
            <a:ext cx="1152144" cy="457200"/>
          </a:xfrm>
          <a:prstGeom prst="rect">
            <a:avLst/>
          </a:prstGeom>
          <a:solidFill>
            <a:srgbClr val="86B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2642616"/>
            <a:ext cx="115214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1" i="0">
                <a:solidFill>
                  <a:srgbClr val="002F5D"/>
                </a:solidFill>
                <a:latin typeface="Arial"/>
              </a:rPr>
              <a:t>VL rows × N cols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926080" y="2176272"/>
            <a:ext cx="1234440" cy="1280160"/>
          </a:xfrm>
          <a:prstGeom prst="rect">
            <a:avLst/>
          </a:prstGeom>
          <a:solidFill>
            <a:srgbClr val="F4F8FD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26080" y="1938528"/>
            <a:ext cx="1234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1" i="0">
                <a:solidFill>
                  <a:srgbClr val="595959"/>
                </a:solidFill>
                <a:latin typeface="Arial"/>
              </a:rPr>
              <a:t>Z0–Z31 (SSVE)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035808" y="2340864"/>
            <a:ext cx="1014984" cy="292608"/>
          </a:xfrm>
          <a:prstGeom prst="rect">
            <a:avLst/>
          </a:prstGeom>
          <a:solidFill>
            <a:srgbClr val="86B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35808" y="2377440"/>
            <a:ext cx="101498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1" i="0">
                <a:solidFill>
                  <a:srgbClr val="002F5D"/>
                </a:solidFill>
                <a:latin typeface="Arial"/>
              </a:rPr>
              <a:t>z0 = column j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35808" y="2743200"/>
            <a:ext cx="1014984" cy="292608"/>
          </a:xfrm>
          <a:prstGeom prst="rect">
            <a:avLst/>
          </a:prstGeom>
          <a:solidFill>
            <a:srgbClr val="002F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35808" y="2779776"/>
            <a:ext cx="101498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Arial"/>
              </a:rPr>
              <a:t>z2 += x·x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80944" y="3108960"/>
            <a:ext cx="11247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0" i="1">
                <a:solidFill>
                  <a:srgbClr val="595959"/>
                </a:solidFill>
                <a:latin typeface="Arial"/>
              </a:rPr>
              <a:t>reduction stays here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120640" y="1810512"/>
            <a:ext cx="969264" cy="969264"/>
          </a:xfrm>
          <a:prstGeom prst="rect">
            <a:avLst/>
          </a:prstGeom>
          <a:solidFill>
            <a:srgbClr val="F4F8FD"/>
          </a:solidFill>
          <a:ln w="15240">
            <a:solidFill>
              <a:srgbClr val="002F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20640" y="2139696"/>
            <a:ext cx="9692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002F5D"/>
                </a:solidFill>
                <a:latin typeface="Arial"/>
              </a:rPr>
              <a:t>ZA0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20640" y="2395728"/>
            <a:ext cx="9692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750" b="0" i="0">
                <a:solidFill>
                  <a:srgbClr val="595959"/>
                </a:solidFill>
                <a:latin typeface="Arial"/>
              </a:rPr>
              <a:t>16×16 fp32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81344" y="1810512"/>
            <a:ext cx="969264" cy="969264"/>
          </a:xfrm>
          <a:prstGeom prst="rect">
            <a:avLst/>
          </a:prstGeom>
          <a:solidFill>
            <a:srgbClr val="F4F8FD"/>
          </a:solidFill>
          <a:ln w="15240">
            <a:solidFill>
              <a:srgbClr val="002F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81344" y="2139696"/>
            <a:ext cx="9692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002F5D"/>
                </a:solidFill>
                <a:latin typeface="Arial"/>
              </a:rPr>
              <a:t>ZA1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81344" y="2395728"/>
            <a:ext cx="9692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750" b="0" i="0">
                <a:solidFill>
                  <a:srgbClr val="595959"/>
                </a:solidFill>
                <a:latin typeface="Arial"/>
              </a:rPr>
              <a:t>16×16 fp32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120640" y="2871216"/>
            <a:ext cx="969264" cy="969264"/>
          </a:xfrm>
          <a:prstGeom prst="rect">
            <a:avLst/>
          </a:prstGeom>
          <a:solidFill>
            <a:srgbClr val="F4F8FD"/>
          </a:solidFill>
          <a:ln w="15240">
            <a:solidFill>
              <a:srgbClr val="002F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120640" y="3200400"/>
            <a:ext cx="9692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002F5D"/>
                </a:solidFill>
                <a:latin typeface="Arial"/>
              </a:rPr>
              <a:t>ZA2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20640" y="3456432"/>
            <a:ext cx="9692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750" b="0" i="0">
                <a:solidFill>
                  <a:srgbClr val="595959"/>
                </a:solidFill>
                <a:latin typeface="Arial"/>
              </a:rPr>
              <a:t>16×16 fp32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81344" y="2871216"/>
            <a:ext cx="969264" cy="969264"/>
          </a:xfrm>
          <a:prstGeom prst="rect">
            <a:avLst/>
          </a:prstGeom>
          <a:solidFill>
            <a:srgbClr val="F4F8FD"/>
          </a:solidFill>
          <a:ln w="15240">
            <a:solidFill>
              <a:srgbClr val="002F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81344" y="3200400"/>
            <a:ext cx="9692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002F5D"/>
                </a:solidFill>
                <a:latin typeface="Arial"/>
              </a:rPr>
              <a:t>ZA3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81344" y="3456432"/>
            <a:ext cx="9692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750" b="0" i="0">
                <a:solidFill>
                  <a:srgbClr val="595959"/>
                </a:solidFill>
                <a:latin typeface="Arial"/>
              </a:rPr>
              <a:t>16×16 fp32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00600" y="1389888"/>
            <a:ext cx="267004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1" i="0">
                <a:solidFill>
                  <a:srgbClr val="595959"/>
                </a:solidFill>
                <a:latin typeface="Arial"/>
              </a:rPr>
              <a:t>SME ZA array — 4 KB on-core (SVL/32 = 16 on M4, derived)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452360" y="3227832"/>
            <a:ext cx="1234440" cy="612648"/>
          </a:xfrm>
          <a:prstGeom prst="rect">
            <a:avLst/>
          </a:prstGeom>
          <a:solidFill>
            <a:srgbClr val="F4F8FD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52360" y="3410712"/>
            <a:ext cx="1234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1" i="0">
                <a:solidFill>
                  <a:srgbClr val="595959"/>
                </a:solidFill>
                <a:latin typeface="Arial"/>
              </a:rPr>
              <a:t>DRAM — 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4297680"/>
            <a:ext cx="8229600" cy="457200"/>
          </a:xfrm>
          <a:prstGeom prst="rect">
            <a:avLst/>
          </a:prstGeom>
          <a:solidFill>
            <a:srgbClr val="E9F1FB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94360" y="4352544"/>
            <a:ext cx="7955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1" i="0">
                <a:solidFill>
                  <a:srgbClr val="002F5D"/>
                </a:solidFill>
                <a:latin typeface="Arial"/>
              </a:rPr>
              <a:t>Hypothesis: stage x in ZA during pass 1, read it back in pass 2  →  2R+1W becomes 1R+1W  (−33 % traffic; −50 % for LayerNorm).</a:t>
            </a:r>
          </a:p>
        </p:txBody>
      </p:sp>
      <p:pic>
        <p:nvPicPr>
          <p:cNvPr id="34" name="Picture 33" descr="stri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088636"/>
            <a:ext cx="9144000" cy="54864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457200" y="4832604"/>
            <a:ext cx="58521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8A8A8A"/>
                </a:solidFill>
                <a:latin typeface="Arial"/>
              </a:rPr>
              <a:t>ML Compilers Lab — MLC-Norm · FSU Jena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66760" y="4832604"/>
            <a:ext cx="3657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46304"/>
            <a:ext cx="82296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595959"/>
                </a:solidFill>
                <a:latin typeface="Arial"/>
              </a:rPr>
              <a:t>DESIGN · 2 OF 2 — PASS 1: REDUCE AND STAGE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47472"/>
            <a:ext cx="82296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50" b="1" i="0">
                <a:solidFill>
                  <a:srgbClr val="002F5D"/>
                </a:solidFill>
                <a:latin typeface="Arial"/>
              </a:rPr>
              <a:t>Matching the tool to the work — what could ZA buy a norm?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49808"/>
            <a:ext cx="502920" cy="33020"/>
          </a:xfrm>
          <a:prstGeom prst="rect">
            <a:avLst/>
          </a:prstGeom>
          <a:solidFill>
            <a:srgbClr val="002F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896112"/>
            <a:ext cx="822960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212121"/>
                </a:solidFill>
                <a:latin typeface="Arial"/>
              </a:rPr>
              <a:t>Pass 1 — for each column j:  load once, accumulate Σx² in a Z-register, and park the column in a ZA tile slice. </a:t>
            </a:r>
            <a:r>
              <a:rPr sz="1150" b="1" i="0">
                <a:solidFill>
                  <a:srgbClr val="002F5D"/>
                </a:solidFill>
                <a:latin typeface="Arial"/>
              </a:rPr>
              <a:t>The reduction never routes through ZA</a:t>
            </a:r>
            <a:r>
              <a:rPr sz="1150" b="0" i="0">
                <a:solidFill>
                  <a:srgbClr val="212121"/>
                </a:solidFill>
                <a:latin typeface="Arial"/>
              </a:rPr>
              <a:t> — a matrix accumulator maps poorly onto a horizontal reduction.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810512"/>
            <a:ext cx="1371600" cy="2011680"/>
          </a:xfrm>
          <a:prstGeom prst="rect">
            <a:avLst/>
          </a:prstGeom>
          <a:solidFill>
            <a:srgbClr val="F4F8FD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1389888"/>
            <a:ext cx="17373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1" i="0">
                <a:solidFill>
                  <a:srgbClr val="595959"/>
                </a:solidFill>
                <a:latin typeface="Arial"/>
              </a:rPr>
              <a:t>DRAM — x (col-major)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2560320"/>
            <a:ext cx="1152144" cy="457200"/>
          </a:xfrm>
          <a:prstGeom prst="rect">
            <a:avLst/>
          </a:prstGeom>
          <a:solidFill>
            <a:srgbClr val="86B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2642616"/>
            <a:ext cx="115214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1" i="0">
                <a:solidFill>
                  <a:srgbClr val="002F5D"/>
                </a:solidFill>
                <a:latin typeface="Arial"/>
              </a:rPr>
              <a:t>VL rows × N cols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926080" y="2176272"/>
            <a:ext cx="1234440" cy="1280160"/>
          </a:xfrm>
          <a:prstGeom prst="rect">
            <a:avLst/>
          </a:prstGeom>
          <a:solidFill>
            <a:srgbClr val="F4F8FD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26080" y="1938528"/>
            <a:ext cx="1234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1" i="0">
                <a:solidFill>
                  <a:srgbClr val="595959"/>
                </a:solidFill>
                <a:latin typeface="Arial"/>
              </a:rPr>
              <a:t>Z0–Z31 (SSVE)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035808" y="2340864"/>
            <a:ext cx="1014984" cy="292608"/>
          </a:xfrm>
          <a:prstGeom prst="rect">
            <a:avLst/>
          </a:prstGeom>
          <a:solidFill>
            <a:srgbClr val="86B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35808" y="2377440"/>
            <a:ext cx="101498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1" i="0">
                <a:solidFill>
                  <a:srgbClr val="002F5D"/>
                </a:solidFill>
                <a:latin typeface="Arial"/>
              </a:rPr>
              <a:t>z0 = column j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35808" y="2743200"/>
            <a:ext cx="1014984" cy="292608"/>
          </a:xfrm>
          <a:prstGeom prst="rect">
            <a:avLst/>
          </a:prstGeom>
          <a:solidFill>
            <a:srgbClr val="002F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35808" y="2779776"/>
            <a:ext cx="101498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Arial"/>
              </a:rPr>
              <a:t>z2 += x·x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80944" y="3108960"/>
            <a:ext cx="11247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0" i="1">
                <a:solidFill>
                  <a:srgbClr val="595959"/>
                </a:solidFill>
                <a:latin typeface="Arial"/>
              </a:rPr>
              <a:t>reduction stays here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120640" y="1810512"/>
            <a:ext cx="969264" cy="969264"/>
          </a:xfrm>
          <a:prstGeom prst="rect">
            <a:avLst/>
          </a:prstGeom>
          <a:solidFill>
            <a:srgbClr val="86B6EF"/>
          </a:solidFill>
          <a:ln w="15240">
            <a:solidFill>
              <a:srgbClr val="002F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20640" y="2139696"/>
            <a:ext cx="9692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002F5D"/>
                </a:solidFill>
                <a:latin typeface="Arial"/>
              </a:rPr>
              <a:t>ZA0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20640" y="2395728"/>
            <a:ext cx="9692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750" b="0" i="0">
                <a:solidFill>
                  <a:srgbClr val="595959"/>
                </a:solidFill>
                <a:latin typeface="Arial"/>
              </a:rPr>
              <a:t>16×16 fp32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81344" y="1810512"/>
            <a:ext cx="969264" cy="969264"/>
          </a:xfrm>
          <a:prstGeom prst="rect">
            <a:avLst/>
          </a:prstGeom>
          <a:solidFill>
            <a:srgbClr val="86B6EF"/>
          </a:solidFill>
          <a:ln w="15240">
            <a:solidFill>
              <a:srgbClr val="002F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81344" y="2139696"/>
            <a:ext cx="9692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002F5D"/>
                </a:solidFill>
                <a:latin typeface="Arial"/>
              </a:rPr>
              <a:t>ZA1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81344" y="2395728"/>
            <a:ext cx="9692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750" b="0" i="0">
                <a:solidFill>
                  <a:srgbClr val="595959"/>
                </a:solidFill>
                <a:latin typeface="Arial"/>
              </a:rPr>
              <a:t>16×16 fp32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120640" y="2871216"/>
            <a:ext cx="969264" cy="969264"/>
          </a:xfrm>
          <a:prstGeom prst="rect">
            <a:avLst/>
          </a:prstGeom>
          <a:solidFill>
            <a:srgbClr val="86B6EF"/>
          </a:solidFill>
          <a:ln w="15240">
            <a:solidFill>
              <a:srgbClr val="002F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120640" y="3200400"/>
            <a:ext cx="9692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002F5D"/>
                </a:solidFill>
                <a:latin typeface="Arial"/>
              </a:rPr>
              <a:t>ZA2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20640" y="3456432"/>
            <a:ext cx="9692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750" b="0" i="0">
                <a:solidFill>
                  <a:srgbClr val="595959"/>
                </a:solidFill>
                <a:latin typeface="Arial"/>
              </a:rPr>
              <a:t>16×16 fp32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81344" y="2871216"/>
            <a:ext cx="969264" cy="969264"/>
          </a:xfrm>
          <a:prstGeom prst="rect">
            <a:avLst/>
          </a:prstGeom>
          <a:solidFill>
            <a:srgbClr val="86B6EF"/>
          </a:solidFill>
          <a:ln w="15240">
            <a:solidFill>
              <a:srgbClr val="002F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81344" y="3200400"/>
            <a:ext cx="9692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002F5D"/>
                </a:solidFill>
                <a:latin typeface="Arial"/>
              </a:rPr>
              <a:t>ZA3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81344" y="3456432"/>
            <a:ext cx="9692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750" b="0" i="0">
                <a:solidFill>
                  <a:srgbClr val="595959"/>
                </a:solidFill>
                <a:latin typeface="Arial"/>
              </a:rPr>
              <a:t>16×16 fp32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00600" y="1389888"/>
            <a:ext cx="267004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1" i="0">
                <a:solidFill>
                  <a:srgbClr val="595959"/>
                </a:solidFill>
                <a:latin typeface="Arial"/>
              </a:rPr>
              <a:t>SME ZA array — 4 KB on-core (SVL/32 = 16 on M4, derived)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452360" y="3227832"/>
            <a:ext cx="1234440" cy="612648"/>
          </a:xfrm>
          <a:prstGeom prst="rect">
            <a:avLst/>
          </a:prstGeom>
          <a:solidFill>
            <a:srgbClr val="F4F8FD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52360" y="3410712"/>
            <a:ext cx="1234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1" i="0">
                <a:solidFill>
                  <a:srgbClr val="595959"/>
                </a:solidFill>
                <a:latin typeface="Arial"/>
              </a:rPr>
              <a:t>DRAM — y</a:t>
            </a:r>
          </a:p>
        </p:txBody>
      </p:sp>
      <p:cxnSp>
        <p:nvCxnSpPr>
          <p:cNvPr id="32" name="Connector 31"/>
          <p:cNvCxnSpPr/>
          <p:nvPr/>
        </p:nvCxnSpPr>
        <p:spPr>
          <a:xfrm flipV="1">
            <a:off x="1856232" y="2487168"/>
            <a:ext cx="1024128" cy="256032"/>
          </a:xfrm>
          <a:prstGeom prst="line">
            <a:avLst/>
          </a:prstGeom>
          <a:ln w="22225">
            <a:solidFill>
              <a:srgbClr val="002F5D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Oval 32"/>
          <p:cNvSpPr/>
          <p:nvPr/>
        </p:nvSpPr>
        <p:spPr>
          <a:xfrm>
            <a:off x="2240280" y="2651760"/>
            <a:ext cx="237744" cy="237744"/>
          </a:xfrm>
          <a:prstGeom prst="ellipse">
            <a:avLst/>
          </a:prstGeom>
          <a:solidFill>
            <a:srgbClr val="002F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4187952" y="2487168"/>
            <a:ext cx="886968" cy="9144"/>
          </a:xfrm>
          <a:prstGeom prst="line">
            <a:avLst/>
          </a:prstGeom>
          <a:ln w="22225">
            <a:solidFill>
              <a:srgbClr val="002F5D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Oval 34"/>
          <p:cNvSpPr/>
          <p:nvPr/>
        </p:nvSpPr>
        <p:spPr>
          <a:xfrm>
            <a:off x="4507992" y="2450592"/>
            <a:ext cx="237744" cy="237744"/>
          </a:xfrm>
          <a:prstGeom prst="ellipse">
            <a:avLst/>
          </a:prstGeom>
          <a:solidFill>
            <a:srgbClr val="002F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4023360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002F5D"/>
                </a:solidFill>
                <a:latin typeface="Arial"/>
              </a:rPr>
              <a:t>①</a:t>
            </a:r>
            <a:r>
              <a:rPr sz="1000" b="0" i="0">
                <a:solidFill>
                  <a:srgbClr val="212121"/>
                </a:solidFill>
                <a:latin typeface="Arial"/>
              </a:rPr>
              <a:t>  ld1w column j — the one DRAM read → </a:t>
            </a:r>
            <a:r>
              <a:rPr sz="1000" b="0" i="0">
                <a:solidFill>
                  <a:srgbClr val="212121"/>
                </a:solidFill>
                <a:latin typeface="Consolas"/>
              </a:rPr>
              <a:t>fmla</a:t>
            </a:r>
            <a:r>
              <a:rPr sz="1000" b="0" i="0">
                <a:solidFill>
                  <a:srgbClr val="212121"/>
                </a:solidFill>
                <a:latin typeface="Arial"/>
              </a:rPr>
              <a:t> Σx² in z2      </a:t>
            </a:r>
            <a:r>
              <a:rPr sz="1000" b="1" i="0">
                <a:solidFill>
                  <a:srgbClr val="002F5D"/>
                </a:solidFill>
                <a:latin typeface="Arial"/>
              </a:rPr>
              <a:t>②</a:t>
            </a:r>
            <a:r>
              <a:rPr sz="1000" b="0" i="0">
                <a:solidFill>
                  <a:srgbClr val="212121"/>
                </a:solidFill>
                <a:latin typeface="Arial"/>
              </a:rPr>
              <a:t>  mova za(j)h[w], z0 — park the column in ZA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4297680"/>
            <a:ext cx="8229600" cy="457200"/>
          </a:xfrm>
          <a:prstGeom prst="rect">
            <a:avLst/>
          </a:prstGeom>
          <a:solidFill>
            <a:srgbClr val="E9F1FB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94360" y="4352544"/>
            <a:ext cx="7955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1" i="0">
                <a:solidFill>
                  <a:srgbClr val="002F5D"/>
                </a:solidFill>
                <a:latin typeface="Arial"/>
              </a:rPr>
              <a:t>mova za(j)h[w], z0  parks column j — ZA as storage, not compute.  Capacity: the row block fits only while N ≤ 4·SVL (= 64 on M4).</a:t>
            </a:r>
          </a:p>
        </p:txBody>
      </p:sp>
      <p:pic>
        <p:nvPicPr>
          <p:cNvPr id="39" name="Picture 38" descr="stri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088636"/>
            <a:ext cx="9144000" cy="54864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457200" y="4832604"/>
            <a:ext cx="58521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8A8A8A"/>
                </a:solidFill>
                <a:latin typeface="Arial"/>
              </a:rPr>
              <a:t>ML Compilers Lab — MLC-Norm · FSU Jena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66760" y="4832604"/>
            <a:ext cx="3657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46304"/>
            <a:ext cx="82296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595959"/>
                </a:solidFill>
                <a:latin typeface="Arial"/>
              </a:rPr>
              <a:t>DESIGN · 2 OF 2 — PASS 2: NORMALIZE FROM ZA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47472"/>
            <a:ext cx="82296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50" b="1" i="0">
                <a:solidFill>
                  <a:srgbClr val="002F5D"/>
                </a:solidFill>
                <a:latin typeface="Arial"/>
              </a:rPr>
              <a:t>Matching the tool to the work — what could ZA buy a norm?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49808"/>
            <a:ext cx="502920" cy="33020"/>
          </a:xfrm>
          <a:prstGeom prst="rect">
            <a:avLst/>
          </a:prstGeom>
          <a:solidFill>
            <a:srgbClr val="002F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896112"/>
            <a:ext cx="822960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212121"/>
                </a:solidFill>
                <a:latin typeface="Arial"/>
              </a:rPr>
              <a:t>Pass 2 — read x back from ZA instead of DRAM, scale by γ[j]·inv_rms, store. The second memory read is gone: </a:t>
            </a:r>
            <a:r>
              <a:rPr sz="1150" b="1" i="0">
                <a:solidFill>
                  <a:srgbClr val="002F5D"/>
                </a:solidFill>
                <a:latin typeface="Arial"/>
              </a:rPr>
              <a:t>1R+1W, exactly the traffic RMSNorm’s math needs.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810512"/>
            <a:ext cx="1371600" cy="2011680"/>
          </a:xfrm>
          <a:prstGeom prst="rect">
            <a:avLst/>
          </a:prstGeom>
          <a:solidFill>
            <a:srgbClr val="F4F8FD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1389888"/>
            <a:ext cx="17373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1" i="0">
                <a:solidFill>
                  <a:srgbClr val="595959"/>
                </a:solidFill>
                <a:latin typeface="Arial"/>
              </a:rPr>
              <a:t>DRAM — x (col-major)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2560320"/>
            <a:ext cx="1152144" cy="457200"/>
          </a:xfrm>
          <a:prstGeom prst="rect">
            <a:avLst/>
          </a:prstGeom>
          <a:solidFill>
            <a:srgbClr val="86B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2642616"/>
            <a:ext cx="115214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1" i="0">
                <a:solidFill>
                  <a:srgbClr val="002F5D"/>
                </a:solidFill>
                <a:latin typeface="Arial"/>
              </a:rPr>
              <a:t>VL rows × N cols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926080" y="2176272"/>
            <a:ext cx="1234440" cy="1280160"/>
          </a:xfrm>
          <a:prstGeom prst="rect">
            <a:avLst/>
          </a:prstGeom>
          <a:solidFill>
            <a:srgbClr val="F4F8FD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26080" y="1938528"/>
            <a:ext cx="1234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1" i="0">
                <a:solidFill>
                  <a:srgbClr val="595959"/>
                </a:solidFill>
                <a:latin typeface="Arial"/>
              </a:rPr>
              <a:t>Z0–Z31 (SSVE)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035808" y="2340864"/>
            <a:ext cx="1014984" cy="292608"/>
          </a:xfrm>
          <a:prstGeom prst="rect">
            <a:avLst/>
          </a:prstGeom>
          <a:solidFill>
            <a:srgbClr val="86B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35808" y="2377440"/>
            <a:ext cx="101498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1" i="0">
                <a:solidFill>
                  <a:srgbClr val="002F5D"/>
                </a:solidFill>
                <a:latin typeface="Arial"/>
              </a:rPr>
              <a:t>z0 = column j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35808" y="2743200"/>
            <a:ext cx="1014984" cy="292608"/>
          </a:xfrm>
          <a:prstGeom prst="rect">
            <a:avLst/>
          </a:prstGeom>
          <a:solidFill>
            <a:srgbClr val="002F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35808" y="2779776"/>
            <a:ext cx="101498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Arial"/>
              </a:rPr>
              <a:t>z2 += x·x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80944" y="3108960"/>
            <a:ext cx="11247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0" i="1">
                <a:solidFill>
                  <a:srgbClr val="595959"/>
                </a:solidFill>
                <a:latin typeface="Arial"/>
              </a:rPr>
              <a:t>reduction stays here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120640" y="1810512"/>
            <a:ext cx="969264" cy="969264"/>
          </a:xfrm>
          <a:prstGeom prst="rect">
            <a:avLst/>
          </a:prstGeom>
          <a:solidFill>
            <a:srgbClr val="86B6EF"/>
          </a:solidFill>
          <a:ln w="15240">
            <a:solidFill>
              <a:srgbClr val="002F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20640" y="2139696"/>
            <a:ext cx="9692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002F5D"/>
                </a:solidFill>
                <a:latin typeface="Arial"/>
              </a:rPr>
              <a:t>ZA0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20640" y="2395728"/>
            <a:ext cx="9692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750" b="0" i="0">
                <a:solidFill>
                  <a:srgbClr val="595959"/>
                </a:solidFill>
                <a:latin typeface="Arial"/>
              </a:rPr>
              <a:t>16×16 fp32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81344" y="1810512"/>
            <a:ext cx="969264" cy="969264"/>
          </a:xfrm>
          <a:prstGeom prst="rect">
            <a:avLst/>
          </a:prstGeom>
          <a:solidFill>
            <a:srgbClr val="86B6EF"/>
          </a:solidFill>
          <a:ln w="15240">
            <a:solidFill>
              <a:srgbClr val="002F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81344" y="2139696"/>
            <a:ext cx="9692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002F5D"/>
                </a:solidFill>
                <a:latin typeface="Arial"/>
              </a:rPr>
              <a:t>ZA1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81344" y="2395728"/>
            <a:ext cx="9692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750" b="0" i="0">
                <a:solidFill>
                  <a:srgbClr val="595959"/>
                </a:solidFill>
                <a:latin typeface="Arial"/>
              </a:rPr>
              <a:t>16×16 fp32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120640" y="2871216"/>
            <a:ext cx="969264" cy="969264"/>
          </a:xfrm>
          <a:prstGeom prst="rect">
            <a:avLst/>
          </a:prstGeom>
          <a:solidFill>
            <a:srgbClr val="86B6EF"/>
          </a:solidFill>
          <a:ln w="15240">
            <a:solidFill>
              <a:srgbClr val="002F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120640" y="3200400"/>
            <a:ext cx="9692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002F5D"/>
                </a:solidFill>
                <a:latin typeface="Arial"/>
              </a:rPr>
              <a:t>ZA2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20640" y="3456432"/>
            <a:ext cx="9692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750" b="0" i="0">
                <a:solidFill>
                  <a:srgbClr val="595959"/>
                </a:solidFill>
                <a:latin typeface="Arial"/>
              </a:rPr>
              <a:t>16×16 fp32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81344" y="2871216"/>
            <a:ext cx="969264" cy="969264"/>
          </a:xfrm>
          <a:prstGeom prst="rect">
            <a:avLst/>
          </a:prstGeom>
          <a:solidFill>
            <a:srgbClr val="86B6EF"/>
          </a:solidFill>
          <a:ln w="15240">
            <a:solidFill>
              <a:srgbClr val="002F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81344" y="3200400"/>
            <a:ext cx="9692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002F5D"/>
                </a:solidFill>
                <a:latin typeface="Arial"/>
              </a:rPr>
              <a:t>ZA3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81344" y="3456432"/>
            <a:ext cx="9692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750" b="0" i="0">
                <a:solidFill>
                  <a:srgbClr val="595959"/>
                </a:solidFill>
                <a:latin typeface="Arial"/>
              </a:rPr>
              <a:t>16×16 fp32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00600" y="1389888"/>
            <a:ext cx="267004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1" i="0">
                <a:solidFill>
                  <a:srgbClr val="595959"/>
                </a:solidFill>
                <a:latin typeface="Arial"/>
              </a:rPr>
              <a:t>SME ZA array — 4 KB on-core (SVL/32 = 16 on M4, derived)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452360" y="3227832"/>
            <a:ext cx="1234440" cy="612648"/>
          </a:xfrm>
          <a:prstGeom prst="rect">
            <a:avLst/>
          </a:prstGeom>
          <a:solidFill>
            <a:srgbClr val="F4F8FD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52360" y="3410712"/>
            <a:ext cx="1234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1" i="0">
                <a:solidFill>
                  <a:srgbClr val="595959"/>
                </a:solidFill>
                <a:latin typeface="Arial"/>
              </a:rPr>
              <a:t>DRAM — y</a:t>
            </a:r>
          </a:p>
        </p:txBody>
      </p:sp>
      <p:cxnSp>
        <p:nvCxnSpPr>
          <p:cNvPr id="32" name="Connector 31"/>
          <p:cNvCxnSpPr/>
          <p:nvPr/>
        </p:nvCxnSpPr>
        <p:spPr>
          <a:xfrm flipV="1">
            <a:off x="1856232" y="2487168"/>
            <a:ext cx="1024128" cy="256032"/>
          </a:xfrm>
          <a:prstGeom prst="line">
            <a:avLst/>
          </a:prstGeom>
          <a:ln w="22225">
            <a:solidFill>
              <a:srgbClr val="002F5D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Oval 32"/>
          <p:cNvSpPr/>
          <p:nvPr/>
        </p:nvSpPr>
        <p:spPr>
          <a:xfrm>
            <a:off x="2240280" y="2651760"/>
            <a:ext cx="237744" cy="237744"/>
          </a:xfrm>
          <a:prstGeom prst="ellipse">
            <a:avLst/>
          </a:prstGeom>
          <a:solidFill>
            <a:srgbClr val="002F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4187952" y="2487168"/>
            <a:ext cx="886968" cy="9144"/>
          </a:xfrm>
          <a:prstGeom prst="line">
            <a:avLst/>
          </a:prstGeom>
          <a:ln w="22225">
            <a:solidFill>
              <a:srgbClr val="002F5D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Oval 34"/>
          <p:cNvSpPr/>
          <p:nvPr/>
        </p:nvSpPr>
        <p:spPr>
          <a:xfrm>
            <a:off x="4507992" y="2450592"/>
            <a:ext cx="237744" cy="237744"/>
          </a:xfrm>
          <a:prstGeom prst="ellipse">
            <a:avLst/>
          </a:prstGeom>
          <a:solidFill>
            <a:srgbClr val="002F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cxnSp>
        <p:nvCxnSpPr>
          <p:cNvPr id="36" name="Connector 35"/>
          <p:cNvCxnSpPr/>
          <p:nvPr/>
        </p:nvCxnSpPr>
        <p:spPr>
          <a:xfrm flipH="1" flipV="1">
            <a:off x="4206240" y="3346704"/>
            <a:ext cx="886968" cy="64008"/>
          </a:xfrm>
          <a:prstGeom prst="line">
            <a:avLst/>
          </a:prstGeom>
          <a:ln w="22225">
            <a:solidFill>
              <a:srgbClr val="1E7D3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Oval 36"/>
          <p:cNvSpPr/>
          <p:nvPr/>
        </p:nvSpPr>
        <p:spPr>
          <a:xfrm>
            <a:off x="4507992" y="3438144"/>
            <a:ext cx="237744" cy="237744"/>
          </a:xfrm>
          <a:prstGeom prst="ellipse">
            <a:avLst/>
          </a:prstGeom>
          <a:solidFill>
            <a:srgbClr val="1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7196328" y="3529584"/>
            <a:ext cx="210312" cy="0"/>
          </a:xfrm>
          <a:prstGeom prst="line">
            <a:avLst/>
          </a:prstGeom>
          <a:ln w="22225">
            <a:solidFill>
              <a:srgbClr val="1E7D3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Oval 38"/>
          <p:cNvSpPr/>
          <p:nvPr/>
        </p:nvSpPr>
        <p:spPr>
          <a:xfrm>
            <a:off x="7205472" y="3602736"/>
            <a:ext cx="237744" cy="237744"/>
          </a:xfrm>
          <a:prstGeom prst="ellipse">
            <a:avLst/>
          </a:prstGeom>
          <a:solidFill>
            <a:srgbClr val="1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cxnSp>
        <p:nvCxnSpPr>
          <p:cNvPr id="40" name="Connector 39"/>
          <p:cNvCxnSpPr/>
          <p:nvPr/>
        </p:nvCxnSpPr>
        <p:spPr>
          <a:xfrm flipV="1">
            <a:off x="1856232" y="3227832"/>
            <a:ext cx="1024128" cy="91440"/>
          </a:xfrm>
          <a:prstGeom prst="line">
            <a:avLst/>
          </a:prstGeom>
          <a:ln w="22225">
            <a:solidFill>
              <a:srgbClr val="B3261E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1847088" y="3502152"/>
            <a:ext cx="1143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B3261E"/>
                </a:solidFill>
                <a:latin typeface="Arial"/>
              </a:rPr>
              <a:t>✕ 2nd read of x — saved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" y="4023360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1E7D32"/>
                </a:solidFill>
                <a:latin typeface="Arial"/>
              </a:rPr>
              <a:t>③</a:t>
            </a:r>
            <a:r>
              <a:rPr sz="1000" b="0" i="0">
                <a:solidFill>
                  <a:srgbClr val="212121"/>
                </a:solidFill>
                <a:latin typeface="Arial"/>
              </a:rPr>
              <a:t>  mova z0, za(j)h[w] — x comes back from ZA, not DRAM      </a:t>
            </a:r>
            <a:r>
              <a:rPr sz="1000" b="1" i="0">
                <a:solidFill>
                  <a:srgbClr val="1E7D32"/>
                </a:solidFill>
                <a:latin typeface="Arial"/>
              </a:rPr>
              <a:t>④</a:t>
            </a:r>
            <a:r>
              <a:rPr sz="1000" b="0" i="0">
                <a:solidFill>
                  <a:srgbClr val="212121"/>
                </a:solidFill>
                <a:latin typeface="Arial"/>
              </a:rPr>
              <a:t>  × γ[j] · inv_rms → st1w — the one write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7200" y="4297680"/>
            <a:ext cx="8229600" cy="457200"/>
          </a:xfrm>
          <a:prstGeom prst="rect">
            <a:avLst/>
          </a:prstGeom>
          <a:solidFill>
            <a:srgbClr val="002F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94360" y="4352544"/>
            <a:ext cx="7955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Arial"/>
              </a:rPr>
              <a:t>Pre-registered expectation: a possible small-N win — if the saved read outweighs shuffling x through ZA.  (Spoiler: it doesn’t. Measured on slide 11.)</a:t>
            </a:r>
          </a:p>
        </p:txBody>
      </p:sp>
      <p:pic>
        <p:nvPicPr>
          <p:cNvPr id="45" name="Picture 44" descr="stri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088636"/>
            <a:ext cx="9144000" cy="54864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457200" y="4832604"/>
            <a:ext cx="58521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8A8A8A"/>
                </a:solidFill>
                <a:latin typeface="Arial"/>
              </a:rPr>
              <a:t>ML Compilers Lab — MLC-Norm · FSU Jena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366760" y="4832604"/>
            <a:ext cx="3657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46304"/>
            <a:ext cx="82296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595959"/>
                </a:solidFill>
                <a:latin typeface="Arial"/>
              </a:rPr>
              <a:t>METHOD — EVERY VARIANT VERIFIED, THEN MEASURED; EACH ISOLATES ONE LEVER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47472"/>
            <a:ext cx="82296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50" b="1" i="0">
                <a:solidFill>
                  <a:srgbClr val="002F5D"/>
                </a:solidFill>
                <a:latin typeface="Arial"/>
              </a:rPr>
              <a:t>The experiment: one optimisation family per version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49808"/>
            <a:ext cx="502920" cy="33020"/>
          </a:xfrm>
          <a:prstGeom prst="rect">
            <a:avLst/>
          </a:prstGeom>
          <a:solidFill>
            <a:srgbClr val="002F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941832"/>
            <a:ext cx="548640" cy="274320"/>
          </a:xfrm>
          <a:prstGeom prst="rect">
            <a:avLst/>
          </a:prstGeom>
          <a:solidFill>
            <a:srgbClr val="002F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978408"/>
            <a:ext cx="5486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ver</a:t>
            </a:r>
          </a:p>
        </p:txBody>
      </p:sp>
      <p:sp>
        <p:nvSpPr>
          <p:cNvPr id="7" name="Rectangle 6"/>
          <p:cNvSpPr/>
          <p:nvPr/>
        </p:nvSpPr>
        <p:spPr>
          <a:xfrm>
            <a:off x="1060704" y="941832"/>
            <a:ext cx="3648456" cy="274320"/>
          </a:xfrm>
          <a:prstGeom prst="rect">
            <a:avLst/>
          </a:prstGeom>
          <a:solidFill>
            <a:srgbClr val="002F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70432" y="978408"/>
            <a:ext cx="34747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Arial"/>
              </a:rPr>
              <a:t>the one change</a:t>
            </a:r>
          </a:p>
        </p:txBody>
      </p:sp>
      <p:sp>
        <p:nvSpPr>
          <p:cNvPr id="9" name="Rectangle 8"/>
          <p:cNvSpPr/>
          <p:nvPr/>
        </p:nvSpPr>
        <p:spPr>
          <a:xfrm>
            <a:off x="4764024" y="941832"/>
            <a:ext cx="3922776" cy="274320"/>
          </a:xfrm>
          <a:prstGeom prst="rect">
            <a:avLst/>
          </a:prstGeom>
          <a:solidFill>
            <a:srgbClr val="002F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73752" y="978408"/>
            <a:ext cx="37490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Arial"/>
              </a:rPr>
              <a:t>where it is practice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252728"/>
            <a:ext cx="548640" cy="352044"/>
          </a:xfrm>
          <a:prstGeom prst="rect">
            <a:avLst/>
          </a:prstGeom>
          <a:solidFill>
            <a:srgbClr val="F4F8FD"/>
          </a:solidFill>
          <a:ln w="6350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335024"/>
            <a:ext cx="5486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1" i="0">
                <a:solidFill>
                  <a:srgbClr val="002F5D"/>
                </a:solidFill>
                <a:latin typeface="Consolas"/>
              </a:rPr>
              <a:t>V0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60704" y="1252728"/>
            <a:ext cx="3648456" cy="352044"/>
          </a:xfrm>
          <a:prstGeom prst="rect">
            <a:avLst/>
          </a:prstGeom>
          <a:solidFill>
            <a:srgbClr val="F4F8FD"/>
          </a:solidFill>
          <a:ln w="6350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70432" y="1303020"/>
            <a:ext cx="34747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80" b="0" i="0">
                <a:solidFill>
                  <a:srgbClr val="212121"/>
                </a:solidFill>
                <a:latin typeface="Arial"/>
              </a:rPr>
              <a:t>vectorised VLA SSVE baseline, predicated tails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64024" y="1252728"/>
            <a:ext cx="3922776" cy="352044"/>
          </a:xfrm>
          <a:prstGeom prst="rect">
            <a:avLst/>
          </a:prstGeom>
          <a:solidFill>
            <a:srgbClr val="F4F8FD"/>
          </a:solidFill>
          <a:ln w="6350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73752" y="1303020"/>
            <a:ext cx="376732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19" b="0" i="0">
                <a:solidFill>
                  <a:srgbClr val="595959"/>
                </a:solidFill>
                <a:latin typeface="Arial"/>
              </a:rPr>
              <a:t>the WHILELO/WHILELT predication pattern GGML’s SVE path uses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1632204"/>
            <a:ext cx="548640" cy="352044"/>
          </a:xfrm>
          <a:prstGeom prst="rect">
            <a:avLst/>
          </a:prstGeom>
          <a:solidFill>
            <a:srgbClr val="FFFFFF"/>
          </a:solidFill>
          <a:ln w="6350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1714500"/>
            <a:ext cx="5486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1" i="0">
                <a:solidFill>
                  <a:srgbClr val="002F5D"/>
                </a:solidFill>
                <a:latin typeface="Consolas"/>
              </a:rPr>
              <a:t>V1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60704" y="1632204"/>
            <a:ext cx="3648456" cy="352044"/>
          </a:xfrm>
          <a:prstGeom prst="rect">
            <a:avLst/>
          </a:prstGeom>
          <a:solidFill>
            <a:srgbClr val="FFFFFF"/>
          </a:solidFill>
          <a:ln w="6350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70432" y="1682496"/>
            <a:ext cx="34747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80" b="0" i="0">
                <a:solidFill>
                  <a:srgbClr val="212121"/>
                </a:solidFill>
                <a:latin typeface="Arial"/>
              </a:rPr>
              <a:t>FRSQRTE + one Newton step for 1/√x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764024" y="1632204"/>
            <a:ext cx="3922776" cy="352044"/>
          </a:xfrm>
          <a:prstGeom prst="rect">
            <a:avLst/>
          </a:prstGeom>
          <a:solidFill>
            <a:srgbClr val="FFFFFF"/>
          </a:solidFill>
          <a:ln w="6350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73752" y="1682496"/>
            <a:ext cx="376732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19" b="0" i="0">
                <a:solidFill>
                  <a:srgbClr val="595959"/>
                </a:solidFill>
                <a:latin typeface="Arial"/>
              </a:rPr>
              <a:t>classic SIMD fast-math; notably NOT in ATen CPU (scalar 1/√ per row)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2011680"/>
            <a:ext cx="548640" cy="352044"/>
          </a:xfrm>
          <a:prstGeom prst="rect">
            <a:avLst/>
          </a:prstGeom>
          <a:solidFill>
            <a:srgbClr val="F4F8FD"/>
          </a:solidFill>
          <a:ln w="6350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2093976"/>
            <a:ext cx="5486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1" i="0">
                <a:solidFill>
                  <a:srgbClr val="002F5D"/>
                </a:solidFill>
                <a:latin typeface="Consolas"/>
              </a:rPr>
              <a:t>V2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60704" y="2011680"/>
            <a:ext cx="3648456" cy="352044"/>
          </a:xfrm>
          <a:prstGeom prst="rect">
            <a:avLst/>
          </a:prstGeom>
          <a:solidFill>
            <a:srgbClr val="F4F8FD"/>
          </a:solidFill>
          <a:ln w="6350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70432" y="2061972"/>
            <a:ext cx="34747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80" b="0" i="0">
                <a:solidFill>
                  <a:srgbClr val="212121"/>
                </a:solidFill>
                <a:latin typeface="Arial"/>
              </a:rPr>
              <a:t>hoist the loop-invariant 1/N divide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764024" y="2011680"/>
            <a:ext cx="3922776" cy="352044"/>
          </a:xfrm>
          <a:prstGeom prst="rect">
            <a:avLst/>
          </a:prstGeom>
          <a:solidFill>
            <a:srgbClr val="F4F8FD"/>
          </a:solidFill>
          <a:ln w="6350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73752" y="2061972"/>
            <a:ext cx="376732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19" b="0" i="0">
                <a:solidFill>
                  <a:srgbClr val="595959"/>
                </a:solidFill>
                <a:latin typeface="Arial"/>
              </a:rPr>
              <a:t>classic strength reduction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2391156"/>
            <a:ext cx="548640" cy="352044"/>
          </a:xfrm>
          <a:prstGeom prst="rect">
            <a:avLst/>
          </a:prstGeom>
          <a:solidFill>
            <a:srgbClr val="FFFFFF"/>
          </a:solidFill>
          <a:ln w="6350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2473452"/>
            <a:ext cx="5486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1" i="0">
                <a:solidFill>
                  <a:srgbClr val="002F5D"/>
                </a:solidFill>
                <a:latin typeface="Consolas"/>
              </a:rPr>
              <a:t>V3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60704" y="2391156"/>
            <a:ext cx="3648456" cy="352044"/>
          </a:xfrm>
          <a:prstGeom prst="rect">
            <a:avLst/>
          </a:prstGeom>
          <a:solidFill>
            <a:srgbClr val="FFFFFF"/>
          </a:solidFill>
          <a:ln w="6350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70432" y="2441448"/>
            <a:ext cx="34747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80" b="0" i="0">
                <a:solidFill>
                  <a:srgbClr val="212121"/>
                </a:solidFill>
                <a:latin typeface="Arial"/>
              </a:rPr>
              <a:t>2× column-loop unrolling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764024" y="2391156"/>
            <a:ext cx="3922776" cy="352044"/>
          </a:xfrm>
          <a:prstGeom prst="rect">
            <a:avLst/>
          </a:prstGeom>
          <a:solidFill>
            <a:srgbClr val="FFFFFF"/>
          </a:solidFill>
          <a:ln w="6350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873752" y="2441448"/>
            <a:ext cx="376732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19" b="0" i="0">
                <a:solidFill>
                  <a:srgbClr val="595959"/>
                </a:solidFill>
                <a:latin typeface="Arial"/>
              </a:rPr>
              <a:t>standard SIMD practice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2770632"/>
            <a:ext cx="548640" cy="352044"/>
          </a:xfrm>
          <a:prstGeom prst="rect">
            <a:avLst/>
          </a:prstGeom>
          <a:solidFill>
            <a:srgbClr val="F4F8FD"/>
          </a:solidFill>
          <a:ln w="6350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" y="2852928"/>
            <a:ext cx="5486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1" i="0">
                <a:solidFill>
                  <a:srgbClr val="002F5D"/>
                </a:solidFill>
                <a:latin typeface="Consolas"/>
              </a:rPr>
              <a:t>V4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060704" y="2770632"/>
            <a:ext cx="3648456" cy="352044"/>
          </a:xfrm>
          <a:prstGeom prst="rect">
            <a:avLst/>
          </a:prstGeom>
          <a:solidFill>
            <a:srgbClr val="F4F8FD"/>
          </a:solidFill>
          <a:ln w="6350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70432" y="2820924"/>
            <a:ext cx="34747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80" b="0" i="0">
                <a:solidFill>
                  <a:srgbClr val="212121"/>
                </a:solidFill>
                <a:latin typeface="Arial"/>
              </a:rPr>
              <a:t>4 independent FMLA accumulator chains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764024" y="2770632"/>
            <a:ext cx="3922776" cy="352044"/>
          </a:xfrm>
          <a:prstGeom prst="rect">
            <a:avLst/>
          </a:prstGeom>
          <a:solidFill>
            <a:srgbClr val="F4F8FD"/>
          </a:solidFill>
          <a:ln w="6350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873752" y="2820924"/>
            <a:ext cx="376732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19" b="0" i="0">
                <a:solidFill>
                  <a:srgbClr val="595959"/>
                </a:solidFill>
                <a:latin typeface="Arial"/>
              </a:rPr>
              <a:t>GGML’s GGML_F32_ARR multi-accumulator pattern (its dot-product path)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200" y="3150108"/>
            <a:ext cx="548640" cy="352044"/>
          </a:xfrm>
          <a:prstGeom prst="rect">
            <a:avLst/>
          </a:prstGeom>
          <a:solidFill>
            <a:srgbClr val="FFFFFF"/>
          </a:solidFill>
          <a:ln w="6350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57200" y="3232404"/>
            <a:ext cx="5486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1" i="0">
                <a:solidFill>
                  <a:srgbClr val="002F5D"/>
                </a:solidFill>
                <a:latin typeface="Consolas"/>
              </a:rPr>
              <a:t>V5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060704" y="3150108"/>
            <a:ext cx="3648456" cy="352044"/>
          </a:xfrm>
          <a:prstGeom prst="rect">
            <a:avLst/>
          </a:prstGeom>
          <a:solidFill>
            <a:srgbClr val="FFFFFF"/>
          </a:solidFill>
          <a:ln w="6350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70432" y="3200400"/>
            <a:ext cx="34747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80" b="0" i="0">
                <a:solidFill>
                  <a:srgbClr val="212121"/>
                </a:solidFill>
                <a:latin typeface="Arial"/>
              </a:rPr>
              <a:t>software-pipelined load groups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764024" y="3150108"/>
            <a:ext cx="3922776" cy="352044"/>
          </a:xfrm>
          <a:prstGeom prst="rect">
            <a:avLst/>
          </a:prstGeom>
          <a:solidFill>
            <a:srgbClr val="FFFFFF"/>
          </a:solidFill>
          <a:ln w="6350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873752" y="3200400"/>
            <a:ext cx="376732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19" b="0" i="0">
                <a:solidFill>
                  <a:srgbClr val="595959"/>
                </a:solidFill>
                <a:latin typeface="Arial"/>
              </a:rPr>
              <a:t>hand-scheduled Arm kernels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57200" y="3529584"/>
            <a:ext cx="548640" cy="352044"/>
          </a:xfrm>
          <a:prstGeom prst="rect">
            <a:avLst/>
          </a:prstGeom>
          <a:solidFill>
            <a:srgbClr val="F4F8FD"/>
          </a:solidFill>
          <a:ln w="6350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57200" y="3611880"/>
            <a:ext cx="5486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1" i="0">
                <a:solidFill>
                  <a:srgbClr val="002F5D"/>
                </a:solidFill>
                <a:latin typeface="Consolas"/>
              </a:rPr>
              <a:t>V6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060704" y="3529584"/>
            <a:ext cx="3648456" cy="352044"/>
          </a:xfrm>
          <a:prstGeom prst="rect">
            <a:avLst/>
          </a:prstGeom>
          <a:solidFill>
            <a:srgbClr val="F4F8FD"/>
          </a:solidFill>
          <a:ln w="6350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170432" y="3579876"/>
            <a:ext cx="34747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80" b="0" i="0">
                <a:solidFill>
                  <a:srgbClr val="212121"/>
                </a:solidFill>
                <a:latin typeface="Arial"/>
              </a:rPr>
              <a:t>4-row-block contiguity grouping (256 B per touch)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764024" y="3529584"/>
            <a:ext cx="3922776" cy="352044"/>
          </a:xfrm>
          <a:prstGeom prst="rect">
            <a:avLst/>
          </a:prstGeom>
          <a:solidFill>
            <a:srgbClr val="F4F8FD"/>
          </a:solidFill>
          <a:ln w="6350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873752" y="3579876"/>
            <a:ext cx="376732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19" b="0" i="0">
                <a:solidFill>
                  <a:srgbClr val="595959"/>
                </a:solidFill>
                <a:latin typeface="Arial"/>
              </a:rPr>
              <a:t>DRAM access density — the lever the footprint sweep exposed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57200" y="3909060"/>
            <a:ext cx="548640" cy="352044"/>
          </a:xfrm>
          <a:prstGeom prst="rect">
            <a:avLst/>
          </a:prstGeom>
          <a:solidFill>
            <a:srgbClr val="002F5D"/>
          </a:solidFill>
          <a:ln w="6350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57200" y="3991356"/>
            <a:ext cx="5486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onsolas"/>
              </a:rPr>
              <a:t>ZA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060704" y="3909060"/>
            <a:ext cx="3648456" cy="352044"/>
          </a:xfrm>
          <a:prstGeom prst="rect">
            <a:avLst/>
          </a:prstGeom>
          <a:solidFill>
            <a:srgbClr val="FFFFFF"/>
          </a:solidFill>
          <a:ln w="6350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170432" y="3959352"/>
            <a:ext cx="34747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80" b="0" i="0">
                <a:solidFill>
                  <a:srgbClr val="212121"/>
                </a:solidFill>
                <a:latin typeface="Arial"/>
              </a:rPr>
              <a:t>SVL×SVL tile staging → pass fusion (1R+1W)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764024" y="3909060"/>
            <a:ext cx="3922776" cy="352044"/>
          </a:xfrm>
          <a:prstGeom prst="rect">
            <a:avLst/>
          </a:prstGeom>
          <a:solidFill>
            <a:srgbClr val="FFFFFF"/>
          </a:solidFill>
          <a:ln w="6350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873752" y="3959352"/>
            <a:ext cx="376732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19" b="0" i="0">
                <a:solidFill>
                  <a:srgbClr val="595959"/>
                </a:solidFill>
                <a:latin typeface="Arial"/>
              </a:rPr>
              <a:t>SME’s headline feature — the kernel no library ships (slide 3)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57200" y="431596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595959"/>
                </a:solidFill>
                <a:latin typeface="Arial"/>
              </a:rPr>
              <a:t>Discipline: correctness gates performance — no GiB/s is reported for a kernel that hasn’t passed verification (incl. stress inputs).</a:t>
            </a:r>
          </a:p>
        </p:txBody>
      </p:sp>
      <p:pic>
        <p:nvPicPr>
          <p:cNvPr id="60" name="Picture 59" descr="stri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088636"/>
            <a:ext cx="9144000" cy="54864"/>
          </a:xfrm>
          <a:prstGeom prst="rect">
            <a:avLst/>
          </a:prstGeom>
        </p:spPr>
      </p:pic>
      <p:sp>
        <p:nvSpPr>
          <p:cNvPr id="61" name="TextBox 60"/>
          <p:cNvSpPr txBox="1"/>
          <p:nvPr/>
        </p:nvSpPr>
        <p:spPr>
          <a:xfrm>
            <a:off x="457200" y="4832604"/>
            <a:ext cx="58521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8A8A8A"/>
                </a:solidFill>
                <a:latin typeface="Arial"/>
              </a:rPr>
              <a:t>ML Compilers Lab — MLC-Norm · FSU Jena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366760" y="4832604"/>
            <a:ext cx="3657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46304"/>
            <a:ext cx="82296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595959"/>
                </a:solidFill>
                <a:latin typeface="Arial"/>
              </a:rPr>
              <a:t>METHOD — “PEAK BANDWIDTH” OF WHAT, EXACTLY?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47472"/>
            <a:ext cx="82296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50" b="1" i="0">
                <a:solidFill>
                  <a:srgbClr val="002F5D"/>
                </a:solidFill>
                <a:latin typeface="Arial"/>
              </a:rPr>
              <a:t>Before any number: validate the ruler itself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49808"/>
            <a:ext cx="502920" cy="33020"/>
          </a:xfrm>
          <a:prstGeom prst="rect">
            <a:avLst/>
          </a:prstGeom>
          <a:solidFill>
            <a:srgbClr val="002F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896112"/>
            <a:ext cx="3749039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250" b="1" i="0">
                <a:solidFill>
                  <a:srgbClr val="002F5D"/>
                </a:solidFill>
                <a:latin typeface="Arial"/>
              </a:rPr>
              <a:t>The naïve probe lies. </a:t>
            </a:r>
            <a:r>
              <a:rPr sz="1250" b="0" i="0">
                <a:solidFill>
                  <a:srgbClr val="212121"/>
                </a:solidFill>
                <a:latin typeface="Arial"/>
              </a:rPr>
              <a:t>Our first C++ STREAM-style probe autovectorised to NEON — the wrong execution mode: the kernels run streaming-mode LD1W/ST1W.</a:t>
            </a:r>
          </a:p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250" b="1" i="0">
                <a:solidFill>
                  <a:srgbClr val="212121"/>
                </a:solidFill>
                <a:latin typeface="Arial"/>
              </a:rPr>
              <a:t>Streaming mode has ~25 % less single-core bandwidth </a:t>
            </a:r>
            <a:r>
              <a:rPr sz="1250" b="0" i="0">
                <a:solidFill>
                  <a:srgbClr val="212121"/>
                </a:solidFill>
                <a:latin typeface="Arial"/>
              </a:rPr>
              <a:t>on M4 (59.5 vs 79.5 GiB/s) — every “% of peak” had to be restated.</a:t>
            </a:r>
          </a:p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250" b="1" i="0">
                <a:solidFill>
                  <a:srgbClr val="212121"/>
                </a:solidFill>
                <a:latin typeface="Arial"/>
              </a:rPr>
              <a:t>One core already sustains ~66 % of the chip aggregate </a:t>
            </a:r>
            <a:r>
              <a:rPr sz="1250" b="0" i="0">
                <a:solidFill>
                  <a:srgbClr val="212121"/>
                </a:solidFill>
                <a:latin typeface="Arial"/>
              </a:rPr>
              <a:t>→ threading (Sprint 5) can buy at most ~1.5×.</a:t>
            </a:r>
          </a:p>
          <a:p>
            <a:pPr algn="l">
              <a:lnSpc>
                <a:spcPct val="106000"/>
              </a:lnSpc>
            </a:pPr>
            <a:r>
              <a:rPr sz="1050" b="0" i="1">
                <a:solidFill>
                  <a:srgbClr val="595959"/>
                </a:solidFill>
                <a:latin typeface="Arial"/>
              </a:rPr>
              <a:t>Convention: GiB/s counts useful bytes (1R+1W). The two-pass kernels physically move 2R+1W — both figures are reported.</a:t>
            </a:r>
          </a:p>
        </p:txBody>
      </p:sp>
      <p:pic>
        <p:nvPicPr>
          <p:cNvPr id="6" name="Picture 5" descr="chart_ceiling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0" y="1033272"/>
            <a:ext cx="4663440" cy="1470797"/>
          </a:xfrm>
          <a:prstGeom prst="rect">
            <a:avLst/>
          </a:prstGeom>
        </p:spPr>
      </p:pic>
      <p:pic>
        <p:nvPicPr>
          <p:cNvPr id="7" name="Picture 6" descr="stri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088636"/>
            <a:ext cx="9144000" cy="5486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4832604"/>
            <a:ext cx="58521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8A8A8A"/>
                </a:solidFill>
                <a:latin typeface="Arial"/>
              </a:rPr>
              <a:t>ML Compilers Lab — MLC-Norm · FSU Jena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66760" y="4832604"/>
            <a:ext cx="3657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46304"/>
            <a:ext cx="82296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595959"/>
                </a:solidFill>
                <a:latin typeface="Arial"/>
              </a:rPr>
              <a:t>RESULTS · WHAT ACTUALLY MOVED THE NEEDLE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47472"/>
            <a:ext cx="82296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50" b="1" i="0">
                <a:solidFill>
                  <a:srgbClr val="002F5D"/>
                </a:solidFill>
                <a:latin typeface="Arial"/>
              </a:rPr>
              <a:t>The decisive change — V0 → V6, RMSNorm reduction loop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49808"/>
            <a:ext cx="502920" cy="33020"/>
          </a:xfrm>
          <a:prstGeom prst="rect">
            <a:avLst/>
          </a:prstGeom>
          <a:solidFill>
            <a:srgbClr val="002F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932688"/>
            <a:ext cx="3977639" cy="2651760"/>
          </a:xfrm>
          <a:prstGeom prst="rect">
            <a:avLst/>
          </a:prstGeom>
          <a:solidFill>
            <a:srgbClr val="10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09728" rIns="73152" tIns="64008" bIns="36576"/>
          <a:lstStyle/>
          <a:p>
            <a:pPr algn="l">
              <a:spcAft>
                <a:spcPts val="400"/>
              </a:spcAft>
            </a:pPr>
            <a:r>
              <a:rPr sz="950" b="1">
                <a:solidFill>
                  <a:srgbClr val="9FD3FF"/>
                </a:solidFill>
                <a:latin typeface="Arial"/>
              </a:rPr>
              <a:t>V0 — one column touch, one chain</a:t>
            </a:r>
          </a:p>
          <a:p>
            <a:pPr algn="l">
              <a:spcAft>
                <a:spcPts val="100"/>
              </a:spcAft>
            </a:pPr>
            <a:r>
              <a:rPr sz="950">
                <a:solidFill>
                  <a:srgbClr val="DDE7F5"/>
                </a:solidFill>
                <a:latin typeface="Consolas"/>
              </a:rPr>
              <a:t>.red_col:</a:t>
            </a:r>
            <a:r>
              <a:rPr sz="950" i="1">
                <a:solidFill>
                  <a:srgbClr val="7E97B5"/>
                </a:solidFill>
                <a:latin typeface="Consolas"/>
              </a:rPr>
              <a:t>                ; per column</a:t>
            </a:r>
          </a:p>
          <a:p>
            <a:pPr algn="l">
              <a:spcAft>
                <a:spcPts val="100"/>
              </a:spcAft>
            </a:pPr>
            <a:r>
              <a:rPr sz="950">
                <a:solidFill>
                  <a:srgbClr val="DDE7F5"/>
                </a:solidFill>
                <a:latin typeface="Consolas"/>
              </a:rPr>
              <a:t>  ld1w  {z0.s}, p1/z, [x8]</a:t>
            </a:r>
          </a:p>
          <a:p>
            <a:pPr algn="l">
              <a:spcAft>
                <a:spcPts val="100"/>
              </a:spcAft>
            </a:pPr>
            <a:r>
              <a:rPr sz="950">
                <a:solidFill>
                  <a:srgbClr val="DDE7F5"/>
                </a:solidFill>
                <a:latin typeface="Consolas"/>
              </a:rPr>
              <a:t/>
            </a:r>
            <a:r>
              <a:rPr sz="950" i="1">
                <a:solidFill>
                  <a:srgbClr val="7E97B5"/>
                </a:solidFill>
                <a:latin typeface="Consolas"/>
              </a:rPr>
              <a:t>        ; ONE load  = 64 B touch</a:t>
            </a:r>
          </a:p>
          <a:p>
            <a:pPr algn="l">
              <a:spcAft>
                <a:spcPts val="100"/>
              </a:spcAft>
            </a:pPr>
            <a:r>
              <a:rPr sz="950">
                <a:solidFill>
                  <a:srgbClr val="DDE7F5"/>
                </a:solidFill>
                <a:latin typeface="Consolas"/>
              </a:rPr>
              <a:t>  fmla  z2.s, p1/m, z0.s, z0.s</a:t>
            </a:r>
          </a:p>
          <a:p>
            <a:pPr algn="l">
              <a:spcAft>
                <a:spcPts val="100"/>
              </a:spcAft>
            </a:pPr>
            <a:r>
              <a:rPr sz="950">
                <a:solidFill>
                  <a:srgbClr val="DDE7F5"/>
                </a:solidFill>
                <a:latin typeface="Consolas"/>
              </a:rPr>
              <a:t/>
            </a:r>
            <a:r>
              <a:rPr sz="950" i="1">
                <a:solidFill>
                  <a:srgbClr val="7E97B5"/>
                </a:solidFill>
                <a:latin typeface="Consolas"/>
              </a:rPr>
              <a:t>        ; ONE accumulator chain</a:t>
            </a:r>
          </a:p>
          <a:p>
            <a:pPr algn="l">
              <a:spcAft>
                <a:spcPts val="100"/>
              </a:spcAft>
            </a:pPr>
            <a:r>
              <a:rPr sz="950">
                <a:solidFill>
                  <a:srgbClr val="DDE7F5"/>
                </a:solidFill>
                <a:latin typeface="Consolas"/>
              </a:rPr>
              <a:t>  add   x8, x8, x24</a:t>
            </a:r>
          </a:p>
          <a:p>
            <a:pPr algn="l">
              <a:spcAft>
                <a:spcPts val="100"/>
              </a:spcAft>
            </a:pPr>
            <a:r>
              <a:rPr sz="950">
                <a:solidFill>
                  <a:srgbClr val="DDE7F5"/>
                </a:solidFill>
                <a:latin typeface="Consolas"/>
              </a:rPr>
              <a:t>  subs  x9, x9, #1</a:t>
            </a:r>
          </a:p>
          <a:p>
            <a:pPr algn="l">
              <a:spcAft>
                <a:spcPts val="100"/>
              </a:spcAft>
            </a:pPr>
            <a:r>
              <a:rPr sz="950">
                <a:solidFill>
                  <a:srgbClr val="DDE7F5"/>
                </a:solidFill>
                <a:latin typeface="Consolas"/>
              </a:rPr>
              <a:t>  b.ne  .red_col</a:t>
            </a:r>
          </a:p>
        </p:txBody>
      </p:sp>
      <p:sp>
        <p:nvSpPr>
          <p:cNvPr id="6" name="Rectangle 5"/>
          <p:cNvSpPr/>
          <p:nvPr/>
        </p:nvSpPr>
        <p:spPr>
          <a:xfrm>
            <a:off x="4709160" y="932688"/>
            <a:ext cx="3977639" cy="2651760"/>
          </a:xfrm>
          <a:prstGeom prst="rect">
            <a:avLst/>
          </a:prstGeom>
          <a:solidFill>
            <a:srgbClr val="10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09728" rIns="73152" tIns="64008" bIns="36576"/>
          <a:lstStyle/>
          <a:p>
            <a:pPr algn="l">
              <a:spcAft>
                <a:spcPts val="400"/>
              </a:spcAft>
            </a:pPr>
            <a:r>
              <a:rPr sz="950" b="1">
                <a:solidFill>
                  <a:srgbClr val="9FD3FF"/>
                </a:solidFill>
                <a:latin typeface="Arial"/>
              </a:rPr>
              <a:t>V6 — four blocks per touch, four chains</a:t>
            </a:r>
          </a:p>
          <a:p>
            <a:pPr algn="l">
              <a:spcAft>
                <a:spcPts val="100"/>
              </a:spcAft>
            </a:pPr>
            <a:r>
              <a:rPr sz="950">
                <a:solidFill>
                  <a:srgbClr val="DDE7F5"/>
                </a:solidFill>
                <a:latin typeface="Consolas"/>
              </a:rPr>
              <a:t>.red_col_v6:</a:t>
            </a:r>
          </a:p>
          <a:p>
            <a:pPr algn="l">
              <a:spcAft>
                <a:spcPts val="100"/>
              </a:spcAft>
            </a:pPr>
            <a:r>
              <a:rPr sz="950">
                <a:solidFill>
                  <a:srgbClr val="DDE7F5"/>
                </a:solidFill>
                <a:latin typeface="Consolas"/>
              </a:rPr>
              <a:t>  ld1w {z0.s},  p0/z, [x8]</a:t>
            </a:r>
          </a:p>
          <a:p>
            <a:pPr algn="l">
              <a:spcAft>
                <a:spcPts val="100"/>
              </a:spcAft>
            </a:pPr>
            <a:r>
              <a:rPr sz="950">
                <a:solidFill>
                  <a:srgbClr val="DDE7F5"/>
                </a:solidFill>
                <a:latin typeface="Consolas"/>
              </a:rPr>
              <a:t>  ld1w {z24.s}, p0/z, [x8,#1,mul vl]</a:t>
            </a:r>
          </a:p>
          <a:p>
            <a:pPr algn="l">
              <a:spcAft>
                <a:spcPts val="100"/>
              </a:spcAft>
            </a:pPr>
            <a:r>
              <a:rPr sz="950">
                <a:solidFill>
                  <a:srgbClr val="DDE7F5"/>
                </a:solidFill>
                <a:latin typeface="Consolas"/>
              </a:rPr>
              <a:t>  ld1w {z25.s}, p0/z, [x8,#2,mul vl]</a:t>
            </a:r>
          </a:p>
          <a:p>
            <a:pPr algn="l">
              <a:spcAft>
                <a:spcPts val="100"/>
              </a:spcAft>
            </a:pPr>
            <a:r>
              <a:rPr sz="950">
                <a:solidFill>
                  <a:srgbClr val="DDE7F5"/>
                </a:solidFill>
                <a:latin typeface="Consolas"/>
              </a:rPr>
              <a:t>  ld1w {z26.s}, p0/z, [x8,#3,mul vl]</a:t>
            </a:r>
          </a:p>
          <a:p>
            <a:pPr algn="l">
              <a:spcAft>
                <a:spcPts val="100"/>
              </a:spcAft>
            </a:pPr>
            <a:r>
              <a:rPr sz="950">
                <a:solidFill>
                  <a:srgbClr val="DDE7F5"/>
                </a:solidFill>
                <a:latin typeface="Consolas"/>
              </a:rPr>
              <a:t/>
            </a:r>
            <a:r>
              <a:rPr sz="950" i="1">
                <a:solidFill>
                  <a:srgbClr val="7E97B5"/>
                </a:solidFill>
                <a:latin typeface="Consolas"/>
              </a:rPr>
              <a:t>   ; FOUR loads = 256 B contiguous</a:t>
            </a:r>
          </a:p>
          <a:p>
            <a:pPr algn="l">
              <a:spcAft>
                <a:spcPts val="100"/>
              </a:spcAft>
            </a:pPr>
            <a:r>
              <a:rPr sz="950">
                <a:solidFill>
                  <a:srgbClr val="DDE7F5"/>
                </a:solidFill>
                <a:latin typeface="Consolas"/>
              </a:rPr>
              <a:t>  fmla z2.s,  p0/m, z0.s,  z0.s</a:t>
            </a:r>
          </a:p>
          <a:p>
            <a:pPr algn="l">
              <a:spcAft>
                <a:spcPts val="100"/>
              </a:spcAft>
            </a:pPr>
            <a:r>
              <a:rPr sz="950">
                <a:solidFill>
                  <a:srgbClr val="DDE7F5"/>
                </a:solidFill>
                <a:latin typeface="Consolas"/>
              </a:rPr>
              <a:t>  fmla z16.s, p0/m, z24.s, z24.s</a:t>
            </a:r>
          </a:p>
          <a:p>
            <a:pPr algn="l">
              <a:spcAft>
                <a:spcPts val="100"/>
              </a:spcAft>
            </a:pPr>
            <a:r>
              <a:rPr sz="950">
                <a:solidFill>
                  <a:srgbClr val="DDE7F5"/>
                </a:solidFill>
                <a:latin typeface="Consolas"/>
              </a:rPr>
              <a:t>  fmla z17.s, p0/m, z25.s, z25.s</a:t>
            </a:r>
          </a:p>
          <a:p>
            <a:pPr algn="l">
              <a:spcAft>
                <a:spcPts val="100"/>
              </a:spcAft>
            </a:pPr>
            <a:r>
              <a:rPr sz="950">
                <a:solidFill>
                  <a:srgbClr val="DDE7F5"/>
                </a:solidFill>
                <a:latin typeface="Consolas"/>
              </a:rPr>
              <a:t>  fmla z18.s, p0/m, z26.s, z26.s</a:t>
            </a:r>
          </a:p>
          <a:p>
            <a:pPr algn="l">
              <a:spcAft>
                <a:spcPts val="100"/>
              </a:spcAft>
            </a:pPr>
            <a:r>
              <a:rPr sz="950">
                <a:solidFill>
                  <a:srgbClr val="DDE7F5"/>
                </a:solidFill>
                <a:latin typeface="Consolas"/>
              </a:rPr>
              <a:t/>
            </a:r>
            <a:r>
              <a:rPr sz="950" i="1">
                <a:solidFill>
                  <a:srgbClr val="7E97B5"/>
                </a:solidFill>
                <a:latin typeface="Consolas"/>
              </a:rPr>
              <a:t>   ; FOUR independent chains (ILP)</a:t>
            </a:r>
          </a:p>
          <a:p>
            <a:pPr algn="l">
              <a:spcAft>
                <a:spcPts val="100"/>
              </a:spcAft>
            </a:pPr>
            <a:r>
              <a:rPr sz="950">
                <a:solidFill>
                  <a:srgbClr val="DDE7F5"/>
                </a:solidFill>
                <a:latin typeface="Consolas"/>
              </a:rPr>
              <a:t>  add  x8, x8, x24</a:t>
            </a:r>
          </a:p>
          <a:p>
            <a:pPr algn="l">
              <a:spcAft>
                <a:spcPts val="100"/>
              </a:spcAft>
            </a:pPr>
            <a:r>
              <a:rPr sz="950">
                <a:solidFill>
                  <a:srgbClr val="DDE7F5"/>
                </a:solidFill>
                <a:latin typeface="Consolas"/>
              </a:rPr>
              <a:t>  subs x9, x9, #1</a:t>
            </a:r>
          </a:p>
          <a:p>
            <a:pPr algn="l">
              <a:spcAft>
                <a:spcPts val="100"/>
              </a:spcAft>
            </a:pPr>
            <a:r>
              <a:rPr sz="950">
                <a:solidFill>
                  <a:srgbClr val="DDE7F5"/>
                </a:solidFill>
                <a:latin typeface="Consolas"/>
              </a:rPr>
              <a:t>  b.ne .red_col_v6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694176"/>
            <a:ext cx="8229600" cy="420624"/>
          </a:xfrm>
          <a:prstGeom prst="rect">
            <a:avLst/>
          </a:prstGeom>
          <a:solidFill>
            <a:srgbClr val="E9F1FB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3758184"/>
            <a:ext cx="79552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002F5D"/>
                </a:solidFill>
                <a:latin typeface="Arial"/>
              </a:rPr>
              <a:t>+131 % in the DRAM regime (11.1 → 25.6 GiB/s) — same math, not one extra FLOP. </a:t>
            </a:r>
            <a:r>
              <a:rPr sz="1150" b="1" i="0">
                <a:solidFill>
                  <a:srgbClr val="002F5D"/>
                </a:solidFill>
                <a:latin typeface="Arial"/>
              </a:rPr>
              <a:t>LayerNorm: +71 %.</a:t>
            </a:r>
          </a:p>
        </p:txBody>
      </p:sp>
      <p:pic>
        <p:nvPicPr>
          <p:cNvPr id="9" name="Picture 8" descr="stri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088636"/>
            <a:ext cx="9144000" cy="5486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7200" y="4832604"/>
            <a:ext cx="58521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8A8A8A"/>
                </a:solidFill>
                <a:latin typeface="Arial"/>
              </a:rPr>
              <a:t>ML Compilers Lab — MLC-Norm · FSU Jena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66760" y="4832604"/>
            <a:ext cx="3657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46304"/>
            <a:ext cx="82296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595959"/>
                </a:solidFill>
                <a:latin typeface="Arial"/>
              </a:rPr>
              <a:t>RESULTS · THE ABLATION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47472"/>
            <a:ext cx="82296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50" b="1" i="0">
                <a:solidFill>
                  <a:srgbClr val="002F5D"/>
                </a:solidFill>
                <a:latin typeface="Arial"/>
              </a:rPr>
              <a:t>Which levers mattered — measured, per norm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49808"/>
            <a:ext cx="502920" cy="33020"/>
          </a:xfrm>
          <a:prstGeom prst="rect">
            <a:avLst/>
          </a:prstGeom>
          <a:solidFill>
            <a:srgbClr val="002F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ctr"/>
          </a:p>
        </p:txBody>
      </p:sp>
      <p:pic>
        <p:nvPicPr>
          <p:cNvPr id="5" name="Picture 4" descr="chart_lev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77824"/>
            <a:ext cx="6355080" cy="330993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949440" y="1124712"/>
            <a:ext cx="178308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002F5D"/>
                </a:solidFill>
                <a:latin typeface="Arial"/>
              </a:rPr>
              <a:t>verdicts do not transfer</a:t>
            </a:r>
          </a:p>
          <a:p>
            <a:pPr algn="l">
              <a:spcAft>
                <a:spcPts val="800"/>
              </a:spcAft>
            </a:pPr>
            <a:r>
              <a:rPr sz="950" b="0" i="0">
                <a:solidFill>
                  <a:srgbClr val="212121"/>
                </a:solidFill>
                <a:latin typeface="Arial"/>
              </a:rPr>
              <a:t>V2 pays only on LayerNorm — two per-block divides at serialization points.</a:t>
            </a:r>
          </a:p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002F5D"/>
                </a:solidFill>
                <a:latin typeface="Arial"/>
              </a:rPr>
              <a:t>V3/V5 ≈ 0:</a:t>
            </a:r>
          </a:p>
          <a:p>
            <a:pPr algn="l">
              <a:spcAft>
                <a:spcPts val="800"/>
              </a:spcAft>
            </a:pPr>
            <a:r>
              <a:rPr sz="950" b="0" i="0">
                <a:solidFill>
                  <a:srgbClr val="212121"/>
                </a:solidFill>
                <a:latin typeface="Arial"/>
              </a:rPr>
              <a:t>the OOO core + prefetcher already cover unrolling and load hoisting.</a:t>
            </a:r>
          </a:p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002F5D"/>
                </a:solidFill>
                <a:latin typeface="Arial"/>
              </a:rPr>
              <a:t>ILP before arithmetic:</a:t>
            </a:r>
          </a:p>
          <a:p>
            <a:pPr algn="l"/>
            <a:r>
              <a:rPr sz="950" b="0" i="0">
                <a:solidFill>
                  <a:srgbClr val="212121"/>
                </a:solidFill>
                <a:latin typeface="Arial"/>
              </a:rPr>
              <a:t>breaking the FMLA chain (V4) dwarfs every arithmetic tweak.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206240"/>
            <a:ext cx="8138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1">
                <a:solidFill>
                  <a:srgbClr val="595959"/>
                </a:solidFill>
                <a:latin typeface="Arial"/>
              </a:rPr>
              <a:t>* V6 vs V0 in the 64 MB true-DRAM regime (cache-resident: ties V4) · † ZA fast path vs V6, N ≤ 4·SVL · others vs the incumbent at cache-resident shapes.</a:t>
            </a:r>
          </a:p>
        </p:txBody>
      </p:sp>
      <p:pic>
        <p:nvPicPr>
          <p:cNvPr id="8" name="Picture 7" descr="stri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088636"/>
            <a:ext cx="9144000" cy="5486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4832604"/>
            <a:ext cx="58521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8A8A8A"/>
                </a:solidFill>
                <a:latin typeface="Arial"/>
              </a:rPr>
              <a:t>ML Compilers Lab — MLC-Norm · FSU Jena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66760" y="4832604"/>
            <a:ext cx="3657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46304"/>
            <a:ext cx="82296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595959"/>
                </a:solidFill>
                <a:latin typeface="Arial"/>
              </a:rPr>
              <a:t>RESULTS · THE PRE-REGISTERED HYPOTHESIS MEETS THE HARDWARE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47472"/>
            <a:ext cx="82296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50" b="1" i="0">
                <a:solidFill>
                  <a:srgbClr val="002F5D"/>
                </a:solidFill>
                <a:latin typeface="Arial"/>
              </a:rPr>
              <a:t>The ZA verdict — a measured, explained negative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49808"/>
            <a:ext cx="502920" cy="33020"/>
          </a:xfrm>
          <a:prstGeom prst="rect">
            <a:avLst/>
          </a:prstGeom>
          <a:solidFill>
            <a:srgbClr val="002F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4572000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200" b="1" i="0">
                <a:solidFill>
                  <a:srgbClr val="002F5D"/>
                </a:solidFill>
                <a:latin typeface="Arial"/>
              </a:rPr>
              <a:t>•  </a:t>
            </a:r>
            <a:r>
              <a:rPr sz="1200" b="1" i="0">
                <a:solidFill>
                  <a:srgbClr val="212121"/>
                </a:solidFill>
                <a:latin typeface="Arial"/>
              </a:rPr>
              <a:t>ZA-resident fast path loses 39–65 % (RMS) and 51–68 % (LN) to V6</a:t>
            </a:r>
            <a:r>
              <a:rPr sz="1200" b="0" i="0">
                <a:solidFill>
                  <a:srgbClr val="212121"/>
                </a:solidFill>
                <a:latin typeface="Arial"/>
              </a:rPr>
              <a:t> — despite moving strictly fewer bytes (1R+1W).</a:t>
            </a:r>
          </a:p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200" b="1" i="0">
                <a:solidFill>
                  <a:srgbClr val="002F5D"/>
                </a:solidFill>
                <a:latin typeface="Arial"/>
              </a:rPr>
              <a:t>•  </a:t>
            </a:r>
            <a:r>
              <a:rPr sz="1200" b="0" i="0">
                <a:solidFill>
                  <a:srgbClr val="212121"/>
                </a:solidFill>
                <a:latin typeface="Arial"/>
              </a:rPr>
              <a:t>The clinching data point: </a:t>
            </a:r>
            <a:r>
              <a:rPr sz="1200" b="1" i="0">
                <a:solidFill>
                  <a:srgbClr val="212121"/>
                </a:solidFill>
                <a:latin typeface="Arial"/>
              </a:rPr>
              <a:t>the ZA kernel’s own streaming fallback beats its ZA fast path</a:t>
            </a:r>
            <a:r>
              <a:rPr sz="1200" b="0" i="0">
                <a:solidFill>
                  <a:srgbClr val="212121"/>
                </a:solidFill>
                <a:latin typeface="Arial"/>
              </a:rPr>
              <a:t>  (25.1 vs 8.4–11.0 GiB/s for RMSNorm).</a:t>
            </a:r>
          </a:p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200" b="1" i="0">
                <a:solidFill>
                  <a:srgbClr val="002F5D"/>
                </a:solidFill>
                <a:latin typeface="Arial"/>
              </a:rPr>
              <a:t>•  </a:t>
            </a:r>
            <a:r>
              <a:rPr sz="1200" b="0" i="0">
                <a:solidFill>
                  <a:srgbClr val="212121"/>
                </a:solidFill>
                <a:latin typeface="Arial"/>
              </a:rPr>
              <a:t>Mechanism: </a:t>
            </a:r>
            <a:r>
              <a:rPr sz="1200" b="1" i="0">
                <a:solidFill>
                  <a:srgbClr val="212121"/>
                </a:solidFill>
                <a:latin typeface="Arial"/>
              </a:rPr>
              <a:t>mova throughput, not DRAM, is the binding constraint</a:t>
            </a:r>
            <a:r>
              <a:rPr sz="1200" b="0" i="0">
                <a:solidFill>
                  <a:srgbClr val="212121"/>
                </a:solidFill>
                <a:latin typeface="Arial"/>
              </a:rPr>
              <a:t> — 2 (RMS) / 3 (LN) extra mova per element cost more than the read they save.</a:t>
            </a:r>
          </a:p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200" b="1" i="0">
                <a:solidFill>
                  <a:srgbClr val="002F5D"/>
                </a:solidFill>
                <a:latin typeface="Arial"/>
              </a:rPr>
              <a:t>•  </a:t>
            </a:r>
            <a:r>
              <a:rPr sz="1200" b="1" i="0">
                <a:solidFill>
                  <a:srgbClr val="212121"/>
                </a:solidFill>
                <a:latin typeface="Arial"/>
              </a:rPr>
              <a:t>The bigger traffic cut lost by more</a:t>
            </a:r>
            <a:r>
              <a:rPr sz="1200" b="0" i="0">
                <a:solidFill>
                  <a:srgbClr val="212121"/>
                </a:solidFill>
                <a:latin typeface="Arial"/>
              </a:rPr>
              <a:t> — LayerNorm’s −50 % traffic → larger loss, exactly as pre-registered. The finding is norm-agnostic.</a:t>
            </a:r>
          </a:p>
        </p:txBody>
      </p:sp>
      <p:sp>
        <p:nvSpPr>
          <p:cNvPr id="6" name="Rectangle 5"/>
          <p:cNvSpPr/>
          <p:nvPr/>
        </p:nvSpPr>
        <p:spPr>
          <a:xfrm>
            <a:off x="5257800" y="914400"/>
            <a:ext cx="3429000" cy="1170432"/>
          </a:xfrm>
          <a:prstGeom prst="rect">
            <a:avLst/>
          </a:prstGeom>
          <a:solidFill>
            <a:srgbClr val="F4F8FD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85816" y="1005840"/>
            <a:ext cx="3172968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002F5D"/>
                </a:solidFill>
                <a:latin typeface="Arial"/>
              </a:rPr>
              <a:t>V6 — per element</a:t>
            </a:r>
          </a:p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212121"/>
                </a:solidFill>
                <a:latin typeface="Consolas"/>
              </a:rPr>
              <a:t>ld1w · fmla · (ld1w again) · st1w</a:t>
            </a:r>
          </a:p>
          <a:p>
            <a:pPr algn="l"/>
            <a:r>
              <a:rPr sz="950" b="0" i="0">
                <a:solidFill>
                  <a:srgbClr val="595959"/>
                </a:solidFill>
                <a:latin typeface="Arial"/>
              </a:rPr>
              <a:t>2 DRAM reads + 1 write — but 256 B-dense</a:t>
            </a:r>
          </a:p>
        </p:txBody>
      </p:sp>
      <p:sp>
        <p:nvSpPr>
          <p:cNvPr id="8" name="Rectangle 7"/>
          <p:cNvSpPr/>
          <p:nvPr/>
        </p:nvSpPr>
        <p:spPr>
          <a:xfrm>
            <a:off x="5257800" y="2212848"/>
            <a:ext cx="3429000" cy="1371600"/>
          </a:xfrm>
          <a:prstGeom prst="rect">
            <a:avLst/>
          </a:prstGeom>
          <a:solidFill>
            <a:srgbClr val="F4F8FD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85816" y="2304288"/>
            <a:ext cx="3172968" cy="12252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002F5D"/>
                </a:solidFill>
                <a:latin typeface="Arial"/>
              </a:rPr>
              <a:t>ZA — per element</a:t>
            </a:r>
          </a:p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212121"/>
                </a:solidFill>
                <a:latin typeface="Consolas"/>
              </a:rPr>
              <a:t>ld1w · fmla · </a:t>
            </a:r>
            <a:r>
              <a:rPr sz="1000" b="1" i="0">
                <a:solidFill>
                  <a:srgbClr val="B3261E"/>
                </a:solidFill>
                <a:latin typeface="Consolas"/>
              </a:rPr>
              <a:t>mova→ZA</a:t>
            </a:r>
            <a:r>
              <a:rPr sz="1000" b="0" i="0">
                <a:solidFill>
                  <a:srgbClr val="212121"/>
                </a:solidFill>
                <a:latin typeface="Consolas"/>
              </a:rPr>
              <a:t> · </a:t>
            </a:r>
            <a:r>
              <a:rPr sz="1000" b="1" i="0">
                <a:solidFill>
                  <a:srgbClr val="B3261E"/>
                </a:solidFill>
                <a:latin typeface="Consolas"/>
              </a:rPr>
              <a:t>mova←ZA</a:t>
            </a:r>
            <a:r>
              <a:rPr sz="1000" b="0" i="0">
                <a:solidFill>
                  <a:srgbClr val="212121"/>
                </a:solidFill>
                <a:latin typeface="Consolas"/>
              </a:rPr>
              <a:t> · st1w</a:t>
            </a:r>
          </a:p>
          <a:p>
            <a:pPr algn="l"/>
            <a:r>
              <a:rPr sz="950" b="0" i="0">
                <a:solidFill>
                  <a:srgbClr val="595959"/>
                </a:solidFill>
                <a:latin typeface="Arial"/>
              </a:rPr>
              <a:t>1 read saved, 2 mova bought — a net loss at 10–35 GiB/s, where memory was never the binding constraint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749040"/>
            <a:ext cx="8229600" cy="402336"/>
          </a:xfrm>
          <a:prstGeom prst="rect">
            <a:avLst/>
          </a:prstGeom>
          <a:solidFill>
            <a:srgbClr val="002F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3813048"/>
            <a:ext cx="79552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This is why no library ships an SME norm kernel (slide 3) — and why our JIT deliberately never emits the ZA path.</a:t>
            </a:r>
          </a:p>
        </p:txBody>
      </p:sp>
      <p:pic>
        <p:nvPicPr>
          <p:cNvPr id="12" name="Picture 11" descr="stri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088636"/>
            <a:ext cx="9144000" cy="5486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57200" y="4832604"/>
            <a:ext cx="58521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8A8A8A"/>
                </a:solidFill>
                <a:latin typeface="Arial"/>
              </a:rPr>
              <a:t>ML Compilers Lab — MLC-Norm · FSU Jena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760" y="4832604"/>
            <a:ext cx="3657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46304"/>
            <a:ext cx="82296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595959"/>
                </a:solidFill>
                <a:latin typeface="Arial"/>
              </a:rPr>
              <a:t>RESULTS · SAME HARNESS, SAME SHAPES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47472"/>
            <a:ext cx="82296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50" b="1" i="0">
                <a:solidFill>
                  <a:srgbClr val="002F5D"/>
                </a:solidFill>
                <a:latin typeface="Arial"/>
              </a:rPr>
              <a:t>RMSNorm vs LayerNorm — the gap is structural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49808"/>
            <a:ext cx="502920" cy="33020"/>
          </a:xfrm>
          <a:prstGeom prst="rect">
            <a:avLst/>
          </a:prstGeom>
          <a:solidFill>
            <a:srgbClr val="002F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87552"/>
            <a:ext cx="1691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02F5D"/>
                </a:solidFill>
                <a:latin typeface="Arial"/>
              </a:rPr>
              <a:t>LayerNorm</a:t>
            </a:r>
          </a:p>
        </p:txBody>
      </p:sp>
      <p:sp>
        <p:nvSpPr>
          <p:cNvPr id="6" name="Rectangle 5"/>
          <p:cNvSpPr/>
          <p:nvPr/>
        </p:nvSpPr>
        <p:spPr>
          <a:xfrm>
            <a:off x="2240280" y="950976"/>
            <a:ext cx="384048" cy="310896"/>
          </a:xfrm>
          <a:prstGeom prst="rect">
            <a:avLst/>
          </a:prstGeom>
          <a:solidFill>
            <a:srgbClr val="86B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240280" y="996696"/>
            <a:ext cx="38404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1" i="0">
                <a:solidFill>
                  <a:srgbClr val="002F5D"/>
                </a:solidFill>
                <a:latin typeface="Arial"/>
              </a:rPr>
              <a:t>R</a:t>
            </a:r>
          </a:p>
        </p:txBody>
      </p:sp>
      <p:sp>
        <p:nvSpPr>
          <p:cNvPr id="8" name="Rectangle 7"/>
          <p:cNvSpPr/>
          <p:nvPr/>
        </p:nvSpPr>
        <p:spPr>
          <a:xfrm>
            <a:off x="2697480" y="950976"/>
            <a:ext cx="384048" cy="310896"/>
          </a:xfrm>
          <a:prstGeom prst="rect">
            <a:avLst/>
          </a:prstGeom>
          <a:solidFill>
            <a:srgbClr val="86B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97480" y="996696"/>
            <a:ext cx="38404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1" i="0">
                <a:solidFill>
                  <a:srgbClr val="002F5D"/>
                </a:solidFill>
                <a:latin typeface="Arial"/>
              </a:rPr>
              <a:t>R</a:t>
            </a:r>
          </a:p>
        </p:txBody>
      </p:sp>
      <p:sp>
        <p:nvSpPr>
          <p:cNvPr id="10" name="Rectangle 9"/>
          <p:cNvSpPr/>
          <p:nvPr/>
        </p:nvSpPr>
        <p:spPr>
          <a:xfrm>
            <a:off x="3154680" y="950976"/>
            <a:ext cx="384048" cy="310896"/>
          </a:xfrm>
          <a:prstGeom prst="rect">
            <a:avLst/>
          </a:prstGeom>
          <a:solidFill>
            <a:srgbClr val="86B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154680" y="996696"/>
            <a:ext cx="38404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1" i="0">
                <a:solidFill>
                  <a:srgbClr val="002F5D"/>
                </a:solidFill>
                <a:latin typeface="Arial"/>
              </a:rPr>
              <a:t>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11880" y="950976"/>
            <a:ext cx="384048" cy="310896"/>
          </a:xfrm>
          <a:prstGeom prst="rect">
            <a:avLst/>
          </a:prstGeom>
          <a:solidFill>
            <a:srgbClr val="002F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11880" y="996696"/>
            <a:ext cx="38404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Arial"/>
              </a:rPr>
              <a:t>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42232" y="992124"/>
            <a:ext cx="8686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595959"/>
                </a:solidFill>
                <a:latin typeface="Arial"/>
              </a:rPr>
              <a:t>16 B/elt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1408176"/>
            <a:ext cx="1691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02F5D"/>
                </a:solidFill>
                <a:latin typeface="Arial"/>
              </a:rPr>
              <a:t>RMSNorm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240280" y="1371600"/>
            <a:ext cx="384048" cy="310896"/>
          </a:xfrm>
          <a:prstGeom prst="rect">
            <a:avLst/>
          </a:prstGeom>
          <a:solidFill>
            <a:srgbClr val="86B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240280" y="1417320"/>
            <a:ext cx="38404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1" i="0">
                <a:solidFill>
                  <a:srgbClr val="002F5D"/>
                </a:solidFill>
                <a:latin typeface="Arial"/>
              </a:rPr>
              <a:t>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697480" y="1371600"/>
            <a:ext cx="384048" cy="310896"/>
          </a:xfrm>
          <a:prstGeom prst="rect">
            <a:avLst/>
          </a:prstGeom>
          <a:solidFill>
            <a:srgbClr val="86B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697480" y="1417320"/>
            <a:ext cx="38404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1" i="0">
                <a:solidFill>
                  <a:srgbClr val="002F5D"/>
                </a:solidFill>
                <a:latin typeface="Arial"/>
              </a:rPr>
              <a:t>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154680" y="1371600"/>
            <a:ext cx="384048" cy="310896"/>
          </a:xfrm>
          <a:prstGeom prst="rect">
            <a:avLst/>
          </a:prstGeom>
          <a:solidFill>
            <a:srgbClr val="002F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154680" y="1417320"/>
            <a:ext cx="38404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Arial"/>
              </a:rPr>
              <a:t>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85032" y="1412748"/>
            <a:ext cx="8686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595959"/>
                </a:solidFill>
                <a:latin typeface="Arial"/>
              </a:rPr>
              <a:t>12 B/elt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1792224"/>
            <a:ext cx="44805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0" i="0">
                <a:solidFill>
                  <a:srgbClr val="212121"/>
                </a:solidFill>
                <a:latin typeface="Arial"/>
              </a:rPr>
              <a:t>Structural traffic floor: 1.33×.  Measured: </a:t>
            </a:r>
            <a:r>
              <a:rPr sz="1200" b="1" i="0">
                <a:solidFill>
                  <a:srgbClr val="002F5D"/>
                </a:solidFill>
                <a:latin typeface="Arial"/>
              </a:rPr>
              <a:t>1.8–2.3×</a:t>
            </a:r>
            <a:r>
              <a:rPr sz="1200" b="0" i="0">
                <a:solidFill>
                  <a:srgbClr val="212121"/>
                </a:solidFill>
                <a:latin typeface="Arial"/>
              </a:rPr>
              <a:t> — the rest is per-byte work: mean-subtract, β, two serialization points per block. Well beyond the literature’s 10–40 %.</a:t>
            </a:r>
          </a:p>
        </p:txBody>
      </p:sp>
      <p:pic>
        <p:nvPicPr>
          <p:cNvPr id="24" name="Picture 23" descr="chart_lnrm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0" y="914400"/>
            <a:ext cx="3703320" cy="1359813"/>
          </a:xfrm>
          <a:prstGeom prst="rect">
            <a:avLst/>
          </a:prstGeom>
        </p:spPr>
      </p:pic>
      <p:sp>
        <p:nvSpPr>
          <p:cNvPr id="25" name="Rectangle 24"/>
          <p:cNvSpPr/>
          <p:nvPr/>
        </p:nvSpPr>
        <p:spPr>
          <a:xfrm>
            <a:off x="457200" y="2834640"/>
            <a:ext cx="8229600" cy="1078992"/>
          </a:xfrm>
          <a:prstGeom prst="rect">
            <a:avLst/>
          </a:prstGeom>
          <a:solidFill>
            <a:srgbClr val="F4F8FD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03504" y="2944368"/>
            <a:ext cx="793699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002F5D"/>
                </a:solidFill>
                <a:latin typeface="Arial"/>
              </a:rPr>
              <a:t>And the single-sweep escape? Welford (ATen’s choice) is a double negative here.  </a:t>
            </a:r>
          </a:p>
          <a:p>
            <a:pPr algn="l">
              <a:lnSpc>
                <a:spcPct val="106000"/>
              </a:lnSpc>
            </a:pPr>
            <a:r>
              <a:rPr sz="1150" b="0" i="0">
                <a:solidFill>
                  <a:srgbClr val="212121"/>
                </a:solidFill>
                <a:latin typeface="Arial"/>
              </a:rPr>
              <a:t>Moves 25 % fewer bytes (2R+1W) yet runs </a:t>
            </a:r>
            <a:r>
              <a:rPr sz="1150" b="1" i="0">
                <a:solidFill>
                  <a:srgbClr val="212121"/>
                </a:solidFill>
                <a:latin typeface="Arial"/>
              </a:rPr>
              <a:t>25–30 % slower</a:t>
            </a:r>
            <a:r>
              <a:rPr sz="1150" b="0" i="0">
                <a:solidFill>
                  <a:srgbClr val="212121"/>
                </a:solidFill>
                <a:latin typeface="Arial"/>
              </a:rPr>
              <a:t> — the per-element 1/count recurrence serializes on SIMD — and is </a:t>
            </a:r>
            <a:r>
              <a:rPr sz="1150" b="1" i="0">
                <a:solidFill>
                  <a:srgbClr val="212121"/>
                </a:solidFill>
                <a:latin typeface="Arial"/>
              </a:rPr>
              <a:t>~100× less accurate</a:t>
            </a:r>
            <a:r>
              <a:rPr sz="1150" b="0" i="0">
                <a:solidFill>
                  <a:srgbClr val="212121"/>
                </a:solidFill>
                <a:latin typeface="Arial"/>
              </a:rPr>
              <a:t> on shifted FP32 data (max err 1.2e-3 vs 1.2e-5 at shift 10⁴, our SIMD port; ATen softens this with chunking + cascade sums).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402336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1">
                <a:solidFill>
                  <a:srgbClr val="002F5D"/>
                </a:solidFill>
                <a:latin typeface="Arial"/>
              </a:rPr>
              <a:t>Fewer bytes ≠ faster: the stable two-pass wins both speed and accuracy on this hardware.</a:t>
            </a:r>
          </a:p>
        </p:txBody>
      </p:sp>
      <p:pic>
        <p:nvPicPr>
          <p:cNvPr id="28" name="Picture 27" descr="stri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088636"/>
            <a:ext cx="9144000" cy="54864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457200" y="4832604"/>
            <a:ext cx="58521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8A8A8A"/>
                </a:solidFill>
                <a:latin typeface="Arial"/>
              </a:rPr>
              <a:t>ML Compilers Lab — MLC-Norm · FSU Jena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66760" y="4832604"/>
            <a:ext cx="3657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46304"/>
            <a:ext cx="82296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595959"/>
                </a:solidFill>
                <a:latin typeface="Arial"/>
              </a:rPr>
              <a:t>CODEGEN · EMISSION IS ONE-TIME, THE POINTER IS REUSED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47472"/>
            <a:ext cx="82296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50" b="1" i="0">
                <a:solidFill>
                  <a:srgbClr val="002F5D"/>
                </a:solidFill>
                <a:latin typeface="Arial"/>
              </a:rPr>
              <a:t>From hand-written to generated — mini_jit::Norm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49808"/>
            <a:ext cx="502920" cy="33020"/>
          </a:xfrm>
          <a:prstGeom prst="rect">
            <a:avLst/>
          </a:prstGeom>
          <a:solidFill>
            <a:srgbClr val="002F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932688"/>
            <a:ext cx="3200400" cy="566928"/>
          </a:xfrm>
          <a:prstGeom prst="rect">
            <a:avLst/>
          </a:prstGeom>
          <a:solidFill>
            <a:srgbClr val="002F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978408"/>
            <a:ext cx="2980944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050" b="1" i="0">
                <a:solidFill>
                  <a:srgbClr val="FFFFFF"/>
                </a:solidFill>
                <a:latin typeface="Consolas"/>
              </a:rPr>
              <a:t>Norm::generate(ntype)</a:t>
            </a:r>
          </a:p>
          <a:p>
            <a:pPr algn="l">
              <a:lnSpc>
                <a:spcPct val="95000"/>
              </a:lnSpc>
            </a:pPr>
            <a:r>
              <a:rPr sz="850" b="0" i="0">
                <a:solidFill>
                  <a:srgbClr val="86B6EF"/>
                </a:solidFill>
                <a:latin typeface="Arial"/>
              </a:rPr>
              <a:t>parameterised on the norm type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057400.0" y="1499616"/>
            <a:ext cx="0.0" cy="146304"/>
          </a:xfrm>
          <a:prstGeom prst="line">
            <a:avLst/>
          </a:prstGeom>
          <a:ln w="22225">
            <a:solidFill>
              <a:srgbClr val="002F5D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457200" y="1664208"/>
            <a:ext cx="3200400" cy="566928"/>
          </a:xfrm>
          <a:prstGeom prst="rect">
            <a:avLst/>
          </a:prstGeom>
          <a:solidFill>
            <a:srgbClr val="F4F8FD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1709928"/>
            <a:ext cx="2980944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050" b="1" i="0">
                <a:solidFill>
                  <a:srgbClr val="002F5D"/>
                </a:solidFill>
                <a:latin typeface="Arial"/>
              </a:rPr>
              <a:t>instruction words</a:t>
            </a:r>
          </a:p>
          <a:p>
            <a:pPr algn="l">
              <a:lnSpc>
                <a:spcPct val="95000"/>
              </a:lnSpc>
            </a:pPr>
            <a:r>
              <a:rPr sz="850" b="0" i="0">
                <a:solidFill>
                  <a:srgbClr val="595959"/>
                </a:solidFill>
                <a:latin typeface="Arial"/>
              </a:rPr>
              <a:t>30 new InstGen encoders — each pinned to a toolchain golden word + the Arm ARM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057400.0" y="2231136"/>
            <a:ext cx="0.0" cy="146304"/>
          </a:xfrm>
          <a:prstGeom prst="line">
            <a:avLst/>
          </a:prstGeom>
          <a:ln w="22225">
            <a:solidFill>
              <a:srgbClr val="002F5D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457200" y="2395728"/>
            <a:ext cx="3200400" cy="566928"/>
          </a:xfrm>
          <a:prstGeom prst="rect">
            <a:avLst/>
          </a:prstGeom>
          <a:solidFill>
            <a:srgbClr val="F4F8FD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2441448"/>
            <a:ext cx="2980944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050" b="1" i="0">
                <a:solidFill>
                  <a:srgbClr val="002F5D"/>
                </a:solidFill>
                <a:latin typeface="Arial"/>
              </a:rPr>
              <a:t>executable buffer</a:t>
            </a:r>
          </a:p>
          <a:p>
            <a:pPr algn="l">
              <a:lnSpc>
                <a:spcPct val="95000"/>
              </a:lnSpc>
            </a:pPr>
            <a:r>
              <a:rPr sz="850" b="0" i="0">
                <a:solidFill>
                  <a:srgbClr val="595959"/>
                </a:solidFill>
                <a:latin typeface="Arial"/>
              </a:rPr>
              <a:t>one streaming region · MAP_JIT, W^X respected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057400.0" y="2962656"/>
            <a:ext cx="0.0" cy="146304"/>
          </a:xfrm>
          <a:prstGeom prst="line">
            <a:avLst/>
          </a:prstGeom>
          <a:ln w="22225">
            <a:solidFill>
              <a:srgbClr val="002F5D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457200" y="3127248"/>
            <a:ext cx="3200400" cy="566928"/>
          </a:xfrm>
          <a:prstGeom prst="rect">
            <a:avLst/>
          </a:prstGeom>
          <a:solidFill>
            <a:srgbClr val="F4F8FD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3172968"/>
            <a:ext cx="2980944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050" b="1" i="0">
                <a:solidFill>
                  <a:srgbClr val="002F5D"/>
                </a:solidFill>
                <a:latin typeface="Arial"/>
              </a:rPr>
              <a:t>function pointer</a:t>
            </a:r>
          </a:p>
          <a:p>
            <a:pPr algn="l">
              <a:lnSpc>
                <a:spcPct val="95000"/>
              </a:lnSpc>
            </a:pPr>
            <a:r>
              <a:rPr sz="850" b="0" i="0">
                <a:solidFill>
                  <a:srgbClr val="595959"/>
                </a:solidFill>
                <a:latin typeface="Arial"/>
              </a:rPr>
              <a:t>emitted once (~4.7 µs) · reused every call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977639" y="932688"/>
            <a:ext cx="4709160" cy="1481328"/>
          </a:xfrm>
          <a:prstGeom prst="rect">
            <a:avLst/>
          </a:prstGeom>
          <a:solidFill>
            <a:srgbClr val="E9F1FB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23943" y="1024128"/>
            <a:ext cx="4416552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 i="0">
                <a:solidFill>
                  <a:srgbClr val="002F5D"/>
                </a:solidFill>
                <a:latin typeface="Arial"/>
              </a:rPr>
              <a:t>Trust by construction — the encoding diff</a:t>
            </a:r>
          </a:p>
          <a:p>
            <a:pPr algn="l">
              <a:lnSpc>
                <a:spcPct val="104000"/>
              </a:lnSpc>
              <a:spcAft>
                <a:spcPts val="400"/>
              </a:spcAft>
            </a:pPr>
            <a:r>
              <a:rPr sz="1050" b="0" i="0">
                <a:solidFill>
                  <a:srgbClr val="212121"/>
                </a:solidFill>
                <a:latin typeface="Arial"/>
              </a:rPr>
              <a:t>The generated buffer is diffed word-by-word against the linked hand-written kernel, read from its function address at runtime:</a:t>
            </a:r>
          </a:p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002F5D"/>
                </a:solidFill>
                <a:latin typeface="Consolas"/>
              </a:rPr>
              <a:t>RMSNorm 143/143 · LayerNorm 194/194 words identical</a:t>
            </a:r>
          </a:p>
          <a:p>
            <a:pPr algn="l"/>
            <a:r>
              <a:rPr sz="1050" b="0" i="0">
                <a:solidFill>
                  <a:srgbClr val="212121"/>
                </a:solidFill>
                <a:latin typeface="Arial"/>
              </a:rPr>
              <a:t>→ the JIT inherits the verified kernels’ correctness; runtime parity within 0.6 %.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23359" y="2587752"/>
            <a:ext cx="461772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1050" b="1" i="0">
                <a:solidFill>
                  <a:srgbClr val="002F5D"/>
                </a:solidFill>
                <a:latin typeface="Arial"/>
              </a:rPr>
              <a:t>•  </a:t>
            </a:r>
            <a:r>
              <a:rPr sz="1050" b="0" i="0">
                <a:solidFill>
                  <a:srgbClr val="212121"/>
                </a:solidFill>
                <a:latin typeface="Arial"/>
              </a:rPr>
              <a:t>ZA path deliberately not emitted — it never earned its row (slide 12); the reasoned skip is the emission decision at SVL = 512.</a:t>
            </a:r>
          </a:p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1050" b="1" i="0">
                <a:solidFill>
                  <a:srgbClr val="002F5D"/>
                </a:solidFill>
                <a:latin typeface="Arial"/>
              </a:rPr>
              <a:t>•  </a:t>
            </a:r>
            <a:r>
              <a:rPr sz="1050" b="0" i="0">
                <a:solidFill>
                  <a:srgbClr val="212121"/>
                </a:solidFill>
                <a:latin typeface="Arial"/>
              </a:rPr>
              <a:t>Exactness pays: the golden words exposed </a:t>
            </a:r>
            <a:r>
              <a:rPr sz="1050" b="1" i="0">
                <a:solidFill>
                  <a:srgbClr val="212121"/>
                </a:solidFill>
                <a:latin typeface="Arial"/>
              </a:rPr>
              <a:t>two latent week-6 encoder bugs</a:t>
            </a:r>
            <a:r>
              <a:rPr sz="1050" b="0" i="0">
                <a:solidFill>
                  <a:srgbClr val="212121"/>
                </a:solidFill>
                <a:latin typeface="Arial"/>
              </a:rPr>
              <a:t> (PTRUE size bits; SMSTART SM encoding SM+ZA) every behavioral test had passed over.</a:t>
            </a:r>
          </a:p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1050" b="1" i="0">
                <a:solidFill>
                  <a:srgbClr val="002F5D"/>
                </a:solidFill>
                <a:latin typeface="Arial"/>
              </a:rPr>
              <a:t>•  </a:t>
            </a:r>
            <a:r>
              <a:rPr sz="1050" b="0" i="0">
                <a:solidFill>
                  <a:srgbClr val="212121"/>
                </a:solidFill>
                <a:latin typeface="Arial"/>
              </a:rPr>
              <a:t>Plus one harness bug: a per-call sysctl in cpu_supports_sme() — worth ~1 µs/call, found because word-identical code “couldn’t” differ by 76 %.</a:t>
            </a:r>
          </a:p>
        </p:txBody>
      </p:sp>
      <p:pic>
        <p:nvPicPr>
          <p:cNvPr id="19" name="Picture 18" descr="stri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088636"/>
            <a:ext cx="9144000" cy="54864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457200" y="4832604"/>
            <a:ext cx="58521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8A8A8A"/>
                </a:solidFill>
                <a:latin typeface="Arial"/>
              </a:rPr>
              <a:t>ML Compilers Lab — MLC-Norm · FSU Jena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6760" y="4832604"/>
            <a:ext cx="3657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46304"/>
            <a:ext cx="82296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595959"/>
                </a:solidFill>
                <a:latin typeface="Arial"/>
              </a:rPr>
              <a:t>RESULTS · APPLE M4, USEFUL-BYTES CONVENTION (1R+1W)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47472"/>
            <a:ext cx="82296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50" b="1" i="0">
                <a:solidFill>
                  <a:srgbClr val="002F5D"/>
                </a:solidFill>
                <a:latin typeface="Arial"/>
              </a:rPr>
              <a:t>Where the kernels land against the machine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49808"/>
            <a:ext cx="502920" cy="33020"/>
          </a:xfrm>
          <a:prstGeom prst="rect">
            <a:avLst/>
          </a:prstGeom>
          <a:solidFill>
            <a:srgbClr val="002F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ctr"/>
          </a:p>
        </p:txBody>
      </p:sp>
      <p:pic>
        <p:nvPicPr>
          <p:cNvPr id="5" name="Picture 4" descr="chart_v0v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941832"/>
            <a:ext cx="5074920" cy="324231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349240" y="1005840"/>
            <a:ext cx="3337560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150" b="1" i="0">
                <a:solidFill>
                  <a:srgbClr val="002F5D"/>
                </a:solidFill>
                <a:latin typeface="Arial"/>
              </a:rPr>
              <a:t>•  </a:t>
            </a:r>
            <a:r>
              <a:rPr sz="1150" b="1" i="0">
                <a:solidFill>
                  <a:srgbClr val="212121"/>
                </a:solidFill>
                <a:latin typeface="Arial"/>
              </a:rPr>
              <a:t>Chart: 64 MB working set — the true-DRAM regime.</a:t>
            </a:r>
          </a:p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150" b="1" i="0">
                <a:solidFill>
                  <a:srgbClr val="002F5D"/>
                </a:solidFill>
                <a:latin typeface="Arial"/>
              </a:rPr>
              <a:t>•  </a:t>
            </a:r>
            <a:r>
              <a:rPr sz="1150" b="0" i="0">
                <a:solidFill>
                  <a:srgbClr val="212121"/>
                </a:solidFill>
                <a:latin typeface="Arial"/>
              </a:rPr>
              <a:t>At L2-resident shapes: RMSNorm V6 reaches </a:t>
            </a:r>
            <a:r>
              <a:rPr sz="1150" b="1" i="0">
                <a:solidFill>
                  <a:srgbClr val="002F5D"/>
                </a:solidFill>
                <a:latin typeface="Arial"/>
              </a:rPr>
              <a:t>38.5 GiB/s = 65 % useful-bytes ≈ 95 % moved-bytes</a:t>
            </a:r>
            <a:r>
              <a:rPr sz="1150" b="0" i="0">
                <a:solidFill>
                  <a:srgbClr val="212121"/>
                </a:solidFill>
                <a:latin typeface="Arial"/>
              </a:rPr>
              <a:t> of the streaming ceiling.</a:t>
            </a:r>
          </a:p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150" b="1" i="0">
                <a:solidFill>
                  <a:srgbClr val="002F5D"/>
                </a:solidFill>
                <a:latin typeface="Arial"/>
              </a:rPr>
              <a:t>•  </a:t>
            </a:r>
            <a:r>
              <a:rPr sz="1150" b="0" i="0">
                <a:solidFill>
                  <a:srgbClr val="212121"/>
                </a:solidFill>
                <a:latin typeface="Arial"/>
              </a:rPr>
              <a:t>LayerNorm V6: 16.5 GiB/s (28 % useful ≈ 55 % moved) — the 3R+1W structure is the remaining gap.</a:t>
            </a:r>
          </a:p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150" b="1" i="0">
                <a:solidFill>
                  <a:srgbClr val="002F5D"/>
                </a:solidFill>
                <a:latin typeface="Arial"/>
              </a:rPr>
              <a:t>•  </a:t>
            </a:r>
            <a:r>
              <a:rPr sz="1150" b="0" i="0">
                <a:solidFill>
                  <a:srgbClr val="212121"/>
                </a:solidFill>
                <a:latin typeface="Arial"/>
              </a:rPr>
              <a:t>JIT = hand-written within 0.6 % at every shape — word-identical code, equalized call paths.</a:t>
            </a:r>
          </a:p>
        </p:txBody>
      </p:sp>
      <p:pic>
        <p:nvPicPr>
          <p:cNvPr id="7" name="Picture 6" descr="stri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088636"/>
            <a:ext cx="9144000" cy="5486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4832604"/>
            <a:ext cx="58521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8A8A8A"/>
                </a:solidFill>
                <a:latin typeface="Arial"/>
              </a:rPr>
              <a:t>ML Compilers Lab — MLC-Norm · FSU Jena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66760" y="4832604"/>
            <a:ext cx="3657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Arial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46304"/>
            <a:ext cx="82296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595959"/>
                </a:solidFill>
                <a:latin typeface="Arial"/>
              </a:rPr>
              <a:t>LESSONS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47472"/>
            <a:ext cx="82296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50" b="1" i="0">
                <a:solidFill>
                  <a:srgbClr val="002F5D"/>
                </a:solidFill>
                <a:latin typeface="Arial"/>
              </a:rPr>
              <a:t>Three lessons the measurements insisted 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49808"/>
            <a:ext cx="502920" cy="33020"/>
          </a:xfrm>
          <a:prstGeom prst="rect">
            <a:avLst/>
          </a:prstGeom>
          <a:solidFill>
            <a:srgbClr val="002F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00584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02F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987552"/>
            <a:ext cx="7498079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 i="0">
                <a:solidFill>
                  <a:srgbClr val="002F5D"/>
                </a:solidFill>
                <a:latin typeface="Arial"/>
              </a:rPr>
              <a:t>Break dependency chains before tuning arithmetic</a:t>
            </a:r>
          </a:p>
          <a:p>
            <a:pPr algn="l"/>
            <a:r>
              <a:rPr sz="1150" b="0" i="0">
                <a:solidFill>
                  <a:srgbClr val="212121"/>
                </a:solidFill>
                <a:latin typeface="Arial"/>
              </a:rPr>
              <a:t>Four independent accumulators: +27–32 %.  All arithmetic tweaks together: ≤ +6.5 %.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84708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02F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1828800"/>
            <a:ext cx="7498079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 i="0">
                <a:solidFill>
                  <a:srgbClr val="002F5D"/>
                </a:solidFill>
                <a:latin typeface="Arial"/>
              </a:rPr>
              <a:t>Shape memory access for the DRAM, not the FLOP count</a:t>
            </a:r>
          </a:p>
          <a:p>
            <a:pPr algn="l"/>
            <a:r>
              <a:rPr sz="1150" b="0" i="0">
                <a:solidFill>
                  <a:srgbClr val="212121"/>
                </a:solidFill>
                <a:latin typeface="Arial"/>
              </a:rPr>
              <a:t>256 B-contiguous touches: +131 %.  Loop unrolling: 0 %.  Same math in every case.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688336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02F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670048"/>
            <a:ext cx="7498079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 i="0">
                <a:solidFill>
                  <a:srgbClr val="002F5D"/>
                </a:solidFill>
                <a:latin typeface="Arial"/>
              </a:rPr>
              <a:t>Newer silicon is not automatically faster</a:t>
            </a:r>
          </a:p>
          <a:p>
            <a:pPr algn="l"/>
            <a:r>
              <a:rPr sz="1150" b="0" i="0">
                <a:solidFill>
                  <a:srgbClr val="212121"/>
                </a:solidFill>
                <a:latin typeface="Arial"/>
              </a:rPr>
              <a:t>ZA staging lost 39–68 % — hypothesis pre-registered, measured, and explained (mova throughput).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575304"/>
            <a:ext cx="8229600" cy="420624"/>
          </a:xfrm>
          <a:prstGeom prst="rect">
            <a:avLst/>
          </a:prstGeom>
          <a:solidFill>
            <a:srgbClr val="002F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3639312"/>
            <a:ext cx="79552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Arial"/>
              </a:rPr>
              <a:t>Measure, don’t assume — every verdict re-measured per kernel; every kernel verified before it was benchmarked.</a:t>
            </a:r>
          </a:p>
        </p:txBody>
      </p:sp>
      <p:pic>
        <p:nvPicPr>
          <p:cNvPr id="13" name="Picture 12" descr="stri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088636"/>
            <a:ext cx="9144000" cy="5486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57200" y="4832604"/>
            <a:ext cx="58521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8A8A8A"/>
                </a:solidFill>
                <a:latin typeface="Arial"/>
              </a:rPr>
              <a:t>ML Compilers Lab — MLC-Norm · FSU Jena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4832604"/>
            <a:ext cx="3657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Arial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46304"/>
            <a:ext cx="82296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595959"/>
                </a:solidFill>
                <a:latin typeface="Arial"/>
              </a:rPr>
              <a:t>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47472"/>
            <a:ext cx="82296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50" b="1" i="0">
                <a:solidFill>
                  <a:srgbClr val="002F5D"/>
                </a:solidFill>
                <a:latin typeface="Arial"/>
              </a:rPr>
              <a:t>Status &amp; outlook — from kernels to compiler building blocks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49808"/>
            <a:ext cx="502920" cy="33020"/>
          </a:xfrm>
          <a:prstGeom prst="rect">
            <a:avLst/>
          </a:prstGeom>
          <a:solidFill>
            <a:srgbClr val="002F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914400"/>
            <a:ext cx="3977639" cy="310896"/>
          </a:xfrm>
          <a:prstGeom prst="rect">
            <a:avLst/>
          </a:prstGeom>
          <a:solidFill>
            <a:srgbClr val="002F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960120"/>
            <a:ext cx="39776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Arial"/>
              </a:rPr>
              <a:t>Done — and verified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53312"/>
            <a:ext cx="3886199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700"/>
              </a:spcAft>
            </a:pPr>
            <a:r>
              <a:rPr sz="1100" b="1" i="0">
                <a:solidFill>
                  <a:srgbClr val="002F5D"/>
                </a:solidFill>
                <a:latin typeface="Arial"/>
              </a:rPr>
              <a:t>•  </a:t>
            </a:r>
            <a:r>
              <a:rPr sz="1100" b="1" i="0">
                <a:solidFill>
                  <a:srgbClr val="212121"/>
                </a:solidFill>
                <a:latin typeface="Arial"/>
              </a:rPr>
              <a:t>C++ reference</a:t>
            </a:r>
            <a:r>
              <a:rPr sz="1100" b="0" i="0">
                <a:solidFill>
                  <a:srgbClr val="212121"/>
                </a:solidFill>
                <a:latin typeface="Arial"/>
              </a:rPr>
              <a:t> — the correctness oracle</a:t>
            </a:r>
          </a:p>
          <a:p>
            <a:pPr algn="l">
              <a:lnSpc>
                <a:spcPct val="106000"/>
              </a:lnSpc>
              <a:spcAft>
                <a:spcPts val="700"/>
              </a:spcAft>
            </a:pPr>
            <a:r>
              <a:rPr sz="1100" b="1" i="0">
                <a:solidFill>
                  <a:srgbClr val="002F5D"/>
                </a:solidFill>
                <a:latin typeface="Arial"/>
              </a:rPr>
              <a:t>•  </a:t>
            </a:r>
            <a:r>
              <a:rPr sz="1100" b="1" i="0">
                <a:solidFill>
                  <a:srgbClr val="212121"/>
                </a:solidFill>
                <a:latin typeface="Arial"/>
              </a:rPr>
              <a:t>SSVE V6 kernels, both norms</a:t>
            </a:r>
            <a:r>
              <a:rPr sz="1100" b="0" i="0">
                <a:solidFill>
                  <a:srgbClr val="212121"/>
                </a:solidFill>
                <a:latin typeface="Arial"/>
              </a:rPr>
              <a:t> — verified (352 k assertions), measured vs the validated ceiling</a:t>
            </a:r>
          </a:p>
          <a:p>
            <a:pPr algn="l">
              <a:lnSpc>
                <a:spcPct val="106000"/>
              </a:lnSpc>
              <a:spcAft>
                <a:spcPts val="700"/>
              </a:spcAft>
            </a:pPr>
            <a:r>
              <a:rPr sz="1100" b="1" i="0">
                <a:solidFill>
                  <a:srgbClr val="002F5D"/>
                </a:solidFill>
                <a:latin typeface="Arial"/>
              </a:rPr>
              <a:t>•  </a:t>
            </a:r>
            <a:r>
              <a:rPr sz="1100" b="1" i="0">
                <a:solidFill>
                  <a:srgbClr val="212121"/>
                </a:solidFill>
                <a:latin typeface="Arial"/>
              </a:rPr>
              <a:t>ZA kernels, both norms</a:t>
            </a:r>
            <a:r>
              <a:rPr sz="1100" b="0" i="0">
                <a:solidFill>
                  <a:srgbClr val="212121"/>
                </a:solidFill>
                <a:latin typeface="Arial"/>
              </a:rPr>
              <a:t> — measured, explained negative; kept in the ablation</a:t>
            </a:r>
          </a:p>
          <a:p>
            <a:pPr algn="l">
              <a:lnSpc>
                <a:spcPct val="106000"/>
              </a:lnSpc>
              <a:spcAft>
                <a:spcPts val="700"/>
              </a:spcAft>
            </a:pPr>
            <a:r>
              <a:rPr sz="1100" b="1" i="0">
                <a:solidFill>
                  <a:srgbClr val="002F5D"/>
                </a:solidFill>
                <a:latin typeface="Arial"/>
              </a:rPr>
              <a:t>•  </a:t>
            </a:r>
            <a:r>
              <a:rPr sz="1100" b="1" i="0">
                <a:solidFill>
                  <a:srgbClr val="212121"/>
                </a:solidFill>
                <a:latin typeface="Arial"/>
              </a:rPr>
              <a:t>JIT emission</a:t>
            </a:r>
            <a:r>
              <a:rPr sz="1100" b="0" i="0">
                <a:solidFill>
                  <a:srgbClr val="212121"/>
                </a:solidFill>
                <a:latin typeface="Arial"/>
              </a:rPr>
              <a:t> — word-identical, parity within 0.6 %</a:t>
            </a:r>
          </a:p>
        </p:txBody>
      </p:sp>
      <p:sp>
        <p:nvSpPr>
          <p:cNvPr id="8" name="Rectangle 7"/>
          <p:cNvSpPr/>
          <p:nvPr/>
        </p:nvSpPr>
        <p:spPr>
          <a:xfrm>
            <a:off x="4709159" y="914400"/>
            <a:ext cx="3977639" cy="310896"/>
          </a:xfrm>
          <a:prstGeom prst="rect">
            <a:avLst/>
          </a:prstGeom>
          <a:solidFill>
            <a:srgbClr val="86B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18887" y="960120"/>
            <a:ext cx="39776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002F5D"/>
                </a:solidFill>
                <a:latin typeface="Arial"/>
              </a:rPr>
              <a:t>Next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79" y="1353312"/>
            <a:ext cx="3886199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700"/>
              </a:spcAft>
            </a:pPr>
            <a:r>
              <a:rPr sz="1100" b="1" i="0">
                <a:solidFill>
                  <a:srgbClr val="002F5D"/>
                </a:solidFill>
                <a:latin typeface="Arial"/>
              </a:rPr>
              <a:t>•  </a:t>
            </a:r>
            <a:r>
              <a:rPr sz="1100" b="1" i="0">
                <a:solidFill>
                  <a:srgbClr val="212121"/>
                </a:solidFill>
                <a:latin typeface="Arial"/>
              </a:rPr>
              <a:t>TEIR primitive (Sprint 5)</a:t>
            </a:r>
            <a:r>
              <a:rPr sz="1100" b="0" i="0">
                <a:solidFill>
                  <a:srgbClr val="212121"/>
                </a:solidFill>
                <a:latin typeface="Arial"/>
              </a:rPr>
              <a:t> — the norm as an Invocation the week-7 runtime places in a loop nest; verified through the full path</a:t>
            </a:r>
          </a:p>
          <a:p>
            <a:pPr algn="l">
              <a:lnSpc>
                <a:spcPct val="106000"/>
              </a:lnSpc>
              <a:spcAft>
                <a:spcPts val="700"/>
              </a:spcAft>
            </a:pPr>
            <a:r>
              <a:rPr sz="1100" b="1" i="0">
                <a:solidFill>
                  <a:srgbClr val="002F5D"/>
                </a:solidFill>
                <a:latin typeface="Arial"/>
              </a:rPr>
              <a:t>•  </a:t>
            </a:r>
            <a:r>
              <a:rPr sz="1100" b="1" i="0">
                <a:solidFill>
                  <a:srgbClr val="212121"/>
                </a:solidFill>
                <a:latin typeface="Arial"/>
              </a:rPr>
              <a:t>OpenMP across row tiles</a:t>
            </a:r>
            <a:r>
              <a:rPr sz="1100" b="0" i="0">
                <a:solidFill>
                  <a:srgbClr val="212121"/>
                </a:solidFill>
                <a:latin typeface="Arial"/>
              </a:rPr>
              <a:t> — is_parallel on the outer axis, toward the 89.8 GiB/s chip-wide ceiling (≤ ~1.5×)</a:t>
            </a:r>
          </a:p>
          <a:p>
            <a:pPr algn="l">
              <a:lnSpc>
                <a:spcPct val="106000"/>
              </a:lnSpc>
              <a:spcAft>
                <a:spcPts val="700"/>
              </a:spcAft>
            </a:pPr>
            <a:r>
              <a:rPr sz="1100" b="1" i="0">
                <a:solidFill>
                  <a:srgbClr val="002F5D"/>
                </a:solidFill>
                <a:latin typeface="Arial"/>
              </a:rPr>
              <a:t>•  </a:t>
            </a:r>
            <a:r>
              <a:rPr sz="1100" b="1" i="0">
                <a:solidFill>
                  <a:srgbClr val="212121"/>
                </a:solidFill>
                <a:latin typeface="Arial"/>
              </a:rPr>
              <a:t>Consolidated ablation + stability/overhead study</a:t>
            </a:r>
            <a:r>
              <a:rPr sz="1100" b="0" i="0">
                <a:solidFill>
                  <a:srgbClr val="212121"/>
                </a:solidFill>
                <a:latin typeface="Arial"/>
              </a:rPr>
              <a:t> — Sprints 6–7; final report (Sprint 8)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4160520"/>
            <a:ext cx="8229600" cy="475488"/>
          </a:xfrm>
          <a:prstGeom prst="rect">
            <a:avLst/>
          </a:prstGeom>
          <a:solidFill>
            <a:srgbClr val="E9F1FB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4251960"/>
            <a:ext cx="795528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002F5D"/>
                </a:solidFill>
                <a:latin typeface="Arial"/>
              </a:rPr>
              <a:t>Thank you — questions?</a:t>
            </a:r>
            <a:r>
              <a:rPr sz="1100" b="0" i="0">
                <a:solidFill>
                  <a:srgbClr val="595959"/>
                </a:solidFill>
                <a:latin typeface="Consolas"/>
              </a:rPr>
              <a:t>      github.com/kets01/MLC-Project</a:t>
            </a:r>
          </a:p>
        </p:txBody>
      </p:sp>
      <p:pic>
        <p:nvPicPr>
          <p:cNvPr id="13" name="Picture 12" descr="stri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088636"/>
            <a:ext cx="9144000" cy="5486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57200" y="4832604"/>
            <a:ext cx="58521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8A8A8A"/>
                </a:solidFill>
                <a:latin typeface="Arial"/>
              </a:rPr>
              <a:t>ML Compilers Lab — MLC-Norm · FSU Jena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4832604"/>
            <a:ext cx="3657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Arial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F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194560"/>
            <a:ext cx="8229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Arial"/>
              </a:rPr>
              <a:t>Backup</a:t>
            </a:r>
          </a:p>
          <a:p>
            <a:pPr algn="l"/>
            <a:r>
              <a:rPr sz="1200" b="0" i="0">
                <a:solidFill>
                  <a:srgbClr val="86B6EF"/>
                </a:solidFill>
                <a:latin typeface="Arial"/>
              </a:rPr>
              <a:t>roofline validation · signature &amp; layout · numerics · the eps bug · encoding diff · ZA tables · small-N &amp; emission · sources</a:t>
            </a:r>
          </a:p>
        </p:txBody>
      </p:sp>
      <p:pic>
        <p:nvPicPr>
          <p:cNvPr id="4" name="Picture 3" descr="stri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061204"/>
            <a:ext cx="9144000" cy="82296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46304"/>
            <a:ext cx="82296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595959"/>
                </a:solidFill>
                <a:latin typeface="Arial"/>
              </a:rPr>
              <a:t>BACKUP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47472"/>
            <a:ext cx="82296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50" b="1" i="0">
                <a:solidFill>
                  <a:srgbClr val="002F5D"/>
                </a:solidFill>
                <a:latin typeface="Arial"/>
              </a:rPr>
              <a:t>B1 · Roofline validation &amp; byte-counting convention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49808"/>
            <a:ext cx="502920" cy="33020"/>
          </a:xfrm>
          <a:prstGeom prst="rect">
            <a:avLst/>
          </a:prstGeom>
          <a:solidFill>
            <a:srgbClr val="002F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896112"/>
            <a:ext cx="384048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800"/>
              </a:spcAft>
            </a:pPr>
            <a:r>
              <a:rPr sz="1100" b="1" i="0">
                <a:solidFill>
                  <a:srgbClr val="002F5D"/>
                </a:solidFill>
                <a:latin typeface="Arial"/>
              </a:rPr>
              <a:t>•  </a:t>
            </a:r>
            <a:r>
              <a:rPr sz="1100" b="0" i="0">
                <a:solidFill>
                  <a:srgbClr val="212121"/>
                </a:solidFill>
                <a:latin typeface="Arial"/>
              </a:rPr>
              <a:t>Disassembly showed the C++ probe autovectorised to NEON (ldp q/fadd.4s/stp q), single-threaded → 79.5 GiB/s was the wrong mode.</a:t>
            </a:r>
          </a:p>
          <a:p>
            <a:pPr algn="l">
              <a:lnSpc>
                <a:spcPct val="106000"/>
              </a:lnSpc>
              <a:spcAft>
                <a:spcPts val="800"/>
              </a:spcAft>
            </a:pPr>
            <a:r>
              <a:rPr sz="1100" b="1" i="0">
                <a:solidFill>
                  <a:srgbClr val="002F5D"/>
                </a:solidFill>
                <a:latin typeface="Arial"/>
              </a:rPr>
              <a:t>•  </a:t>
            </a:r>
            <a:r>
              <a:rPr sz="1100" b="1" i="0">
                <a:solidFill>
                  <a:srgbClr val="212121"/>
                </a:solidFill>
                <a:latin typeface="Consolas"/>
              </a:rPr>
              <a:t>bw_probe_ssve.S</a:t>
            </a:r>
            <a:r>
              <a:rPr sz="1100" b="0" i="0">
                <a:solidFill>
                  <a:srgbClr val="212121"/>
                </a:solidFill>
                <a:latin typeface="Arial"/>
              </a:rPr>
              <a:t>: streaming-mode LD1W/ST1W scale-add, one streaming region, VLA tail, verified bit-exact; QOS_CLASS_USER_INTERACTIVE as P-core hint (macOS has no pinning API).</a:t>
            </a:r>
          </a:p>
          <a:p>
            <a:pPr algn="l">
              <a:lnSpc>
                <a:spcPct val="106000"/>
              </a:lnSpc>
              <a:spcAft>
                <a:spcPts val="800"/>
              </a:spcAft>
            </a:pPr>
            <a:r>
              <a:rPr sz="1100" b="1" i="0">
                <a:solidFill>
                  <a:srgbClr val="002F5D"/>
                </a:solidFill>
                <a:latin typeface="Arial"/>
              </a:rPr>
              <a:t>•  </a:t>
            </a:r>
            <a:r>
              <a:rPr sz="1100" b="0" i="0">
                <a:solidFill>
                  <a:srgbClr val="212121"/>
                </a:solidFill>
                <a:latin typeface="Arial"/>
              </a:rPr>
              <a:t>Useful bytes = 1R+1W for kernels AND probes; two-pass kernels physically move 2R+1W → moved-bytes = 1.5× printed. V6 ≈ 95 % of ceiling in moved bytes.</a:t>
            </a:r>
          </a:p>
          <a:p>
            <a:pPr algn="l">
              <a:lnSpc>
                <a:spcPct val="106000"/>
              </a:lnSpc>
              <a:spcAft>
                <a:spcPts val="800"/>
              </a:spcAft>
            </a:pPr>
            <a:r>
              <a:rPr sz="1100" b="1" i="0">
                <a:solidFill>
                  <a:srgbClr val="002F5D"/>
                </a:solidFill>
                <a:latin typeface="Arial"/>
              </a:rPr>
              <a:t>•  </a:t>
            </a:r>
            <a:r>
              <a:rPr sz="1100" b="0" i="0">
                <a:solidFill>
                  <a:srgbClr val="212121"/>
                </a:solidFill>
                <a:latin typeface="Arial"/>
              </a:rPr>
              <a:t>One core ≈ 66 % of the chip aggregate → Sprint-5 threading buys ≤ ~1.5×.</a:t>
            </a:r>
          </a:p>
        </p:txBody>
      </p:sp>
      <p:pic>
        <p:nvPicPr>
          <p:cNvPr id="6" name="Picture 5" descr="chart_ceiling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680" y="1216152"/>
            <a:ext cx="4434840" cy="1398699"/>
          </a:xfrm>
          <a:prstGeom prst="rect">
            <a:avLst/>
          </a:prstGeom>
        </p:spPr>
      </p:pic>
      <p:pic>
        <p:nvPicPr>
          <p:cNvPr id="7" name="Picture 6" descr="stri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088636"/>
            <a:ext cx="9144000" cy="5486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4832604"/>
            <a:ext cx="58521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8A8A8A"/>
                </a:solidFill>
                <a:latin typeface="Arial"/>
              </a:rPr>
              <a:t>ML Compilers Lab — MLC-Norm · FSU Jena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66760" y="4832604"/>
            <a:ext cx="3657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Arial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46304"/>
            <a:ext cx="82296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595959"/>
                </a:solidFill>
                <a:latin typeface="Arial"/>
              </a:rPr>
              <a:t>BACKUP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47472"/>
            <a:ext cx="82296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50" b="1" i="0">
                <a:solidFill>
                  <a:srgbClr val="002F5D"/>
                </a:solidFill>
                <a:latin typeface="Arial"/>
              </a:rPr>
              <a:t>B2 · Canonical signature, layout, and the gather restriction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49808"/>
            <a:ext cx="502920" cy="33020"/>
          </a:xfrm>
          <a:prstGeom prst="rect">
            <a:avLst/>
          </a:prstGeom>
          <a:solidFill>
            <a:srgbClr val="002F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914400"/>
            <a:ext cx="4846320" cy="1737360"/>
          </a:xfrm>
          <a:prstGeom prst="rect">
            <a:avLst/>
          </a:prstGeom>
          <a:solidFill>
            <a:srgbClr val="10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09728" rIns="73152" tIns="64008" bIns="36576"/>
          <a:lstStyle/>
          <a:p>
            <a:pPr algn="l">
              <a:spcAft>
                <a:spcPts val="100"/>
              </a:spcAft>
            </a:pPr>
            <a:r>
              <a:rPr sz="1000">
                <a:solidFill>
                  <a:srgbClr val="DDE7F5"/>
                </a:solidFill>
                <a:latin typeface="Consolas"/>
              </a:rPr>
              <a:t>// one signature — reference, JIT, TEIR (decision A)</a:t>
            </a:r>
          </a:p>
          <a:p>
            <a:pPr algn="l">
              <a:spcAft>
                <a:spcPts val="100"/>
              </a:spcAft>
            </a:pPr>
            <a:r>
              <a:rPr sz="1000">
                <a:solidFill>
                  <a:srgbClr val="DDE7F5"/>
                </a:solidFill>
                <a:latin typeface="Consolas"/>
              </a:rPr>
              <a:t>void rms_norm(const float* a, float* b,</a:t>
            </a:r>
          </a:p>
          <a:p>
            <a:pPr algn="l">
              <a:spcAft>
                <a:spcPts val="100"/>
              </a:spcAft>
            </a:pPr>
            <a:r>
              <a:rPr sz="1000">
                <a:solidFill>
                  <a:srgbClr val="DDE7F5"/>
                </a:solidFill>
                <a:latin typeface="Consolas"/>
              </a:rPr>
              <a:t>              const float* gamma,</a:t>
            </a:r>
          </a:p>
          <a:p>
            <a:pPr algn="l">
              <a:spcAft>
                <a:spcPts val="100"/>
              </a:spcAft>
            </a:pPr>
            <a:r>
              <a:rPr sz="1000">
                <a:solidFill>
                  <a:srgbClr val="DDE7F5"/>
                </a:solidFill>
                <a:latin typeface="Consolas"/>
              </a:rPr>
              <a:t>              int64_t m, int64_t n,</a:t>
            </a:r>
          </a:p>
          <a:p>
            <a:pPr algn="l">
              <a:spcAft>
                <a:spcPts val="100"/>
              </a:spcAft>
            </a:pPr>
            <a:r>
              <a:rPr sz="1000">
                <a:solidFill>
                  <a:srgbClr val="DDE7F5"/>
                </a:solidFill>
                <a:latin typeface="Consolas"/>
              </a:rPr>
              <a:t>              int64_t ld_a, int64_t ld_b,</a:t>
            </a:r>
          </a:p>
          <a:p>
            <a:pPr algn="l">
              <a:spcAft>
                <a:spcPts val="100"/>
              </a:spcAft>
            </a:pPr>
            <a:r>
              <a:rPr sz="1000">
                <a:solidFill>
                  <a:srgbClr val="DDE7F5"/>
                </a:solidFill>
                <a:latin typeface="Consolas"/>
              </a:rPr>
              <a:t>              float epsilon);</a:t>
            </a:r>
          </a:p>
          <a:p>
            <a:pPr algn="l">
              <a:spcAft>
                <a:spcPts val="100"/>
              </a:spcAft>
            </a:pPr>
            <a:r>
              <a:rPr sz="1000">
                <a:solidFill>
                  <a:srgbClr val="DDE7F5"/>
                </a:solidFill>
                <a:latin typeface="Consolas"/>
              </a:rPr>
              <a:t>// LayerNorm adds: const float* beta</a:t>
            </a:r>
          </a:p>
          <a:p>
            <a:pPr algn="l">
              <a:spcAft>
                <a:spcPts val="100"/>
              </a:spcAft>
            </a:pPr>
            <a:r>
              <a:rPr sz="1000">
                <a:solidFill>
                  <a:srgbClr val="DDE7F5"/>
                </a:solidFill>
                <a:latin typeface="Consolas"/>
              </a:rPr>
              <a:t>// column-major: data[i + j*ld]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816352"/>
            <a:ext cx="82296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700"/>
              </a:spcAft>
            </a:pPr>
            <a:r>
              <a:rPr sz="1100" b="1" i="0">
                <a:solidFill>
                  <a:srgbClr val="002F5D"/>
                </a:solidFill>
                <a:latin typeface="Arial"/>
              </a:rPr>
              <a:t>•  </a:t>
            </a:r>
            <a:r>
              <a:rPr sz="1100" b="1" i="0">
                <a:solidFill>
                  <a:srgbClr val="212121"/>
                </a:solidFill>
                <a:latin typeface="Arial"/>
              </a:rPr>
              <a:t>Why column-major dictates the loop order: </a:t>
            </a:r>
            <a:r>
              <a:rPr sz="1100" b="0" i="0">
                <a:solidFill>
                  <a:srgbClr val="212121"/>
                </a:solidFill>
                <a:latin typeface="Arial"/>
              </a:rPr>
              <a:t>row elements are strided ld apart → would need gather loads; gathers are illegal in streaming mode without SMEFA64, which Apple does not expose (SIGILL). Walking columns makes every load a contiguous LD1W of VL rows.</a:t>
            </a:r>
          </a:p>
          <a:p>
            <a:pPr algn="l">
              <a:lnSpc>
                <a:spcPct val="106000"/>
              </a:lnSpc>
              <a:spcAft>
                <a:spcPts val="700"/>
              </a:spcAft>
            </a:pPr>
            <a:r>
              <a:rPr sz="1100" b="1" i="0">
                <a:solidFill>
                  <a:srgbClr val="002F5D"/>
                </a:solidFill>
                <a:latin typeface="Arial"/>
              </a:rPr>
              <a:t>•  </a:t>
            </a:r>
            <a:r>
              <a:rPr sz="1100" b="0" i="0">
                <a:solidFill>
                  <a:srgbClr val="212121"/>
                </a:solidFill>
                <a:latin typeface="Arial"/>
              </a:rPr>
              <a:t>TEIR mapping (Sprint 5): reconcile with </a:t>
            </a:r>
            <a:r>
              <a:rPr sz="1050" b="0" i="0">
                <a:solidFill>
                  <a:srgbClr val="212121"/>
                </a:solidFill>
                <a:latin typeface="Consolas"/>
              </a:rPr>
              <a:t>CompiledKernel = void(float*,float*,float*)</a:t>
            </a:r>
            <a:r>
              <a:rPr sz="1100" b="0" i="0">
                <a:solidFill>
                  <a:srgbClr val="212121"/>
                </a:solidFill>
                <a:latin typeface="Arial"/>
              </a:rPr>
              <a:t> — input / γβ / output onto a/b/c; strides via leading dimensions.</a:t>
            </a:r>
          </a:p>
        </p:txBody>
      </p:sp>
      <p:pic>
        <p:nvPicPr>
          <p:cNvPr id="7" name="Picture 6" descr="stri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088636"/>
            <a:ext cx="9144000" cy="5486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4832604"/>
            <a:ext cx="58521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8A8A8A"/>
                </a:solidFill>
                <a:latin typeface="Arial"/>
              </a:rPr>
              <a:t>ML Compilers Lab — MLC-Norm · FSU Jena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66760" y="4832604"/>
            <a:ext cx="3657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Arial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46304"/>
            <a:ext cx="82296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595959"/>
                </a:solidFill>
                <a:latin typeface="Arial"/>
              </a:rPr>
              <a:t>BACKUP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47472"/>
            <a:ext cx="82296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50" b="1" i="0">
                <a:solidFill>
                  <a:srgbClr val="002F5D"/>
                </a:solidFill>
                <a:latin typeface="Arial"/>
              </a:rPr>
              <a:t>B3 · Numerical stability: why two-pass, and what we tolerate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49808"/>
            <a:ext cx="502920" cy="33020"/>
          </a:xfrm>
          <a:prstGeom prst="rect">
            <a:avLst/>
          </a:prstGeom>
          <a:solidFill>
            <a:srgbClr val="002F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896112"/>
            <a:ext cx="8229600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150" b="1" i="0">
                <a:solidFill>
                  <a:srgbClr val="002F5D"/>
                </a:solidFill>
                <a:latin typeface="Arial"/>
              </a:rPr>
              <a:t>•  </a:t>
            </a:r>
            <a:r>
              <a:rPr sz="1150" b="0" i="0">
                <a:solidFill>
                  <a:srgbClr val="212121"/>
                </a:solidFill>
                <a:latin typeface="Consolas"/>
              </a:rPr>
              <a:t>Naive single-pass variance E[x²] − E[x]² </a:t>
            </a:r>
            <a:r>
              <a:rPr sz="1150" b="0" i="0">
                <a:solidFill>
                  <a:srgbClr val="212121"/>
                </a:solidFill>
                <a:latin typeface="Arial"/>
              </a:rPr>
              <a:t>cancels catastrophically in FP32 on shifted inputs — the stress suite (shift = 10⁴) is part of correctness, not an extra.</a:t>
            </a:r>
          </a:p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150" b="1" i="0">
                <a:solidFill>
                  <a:srgbClr val="002F5D"/>
                </a:solidFill>
                <a:latin typeface="Arial"/>
              </a:rPr>
              <a:t>•  </a:t>
            </a:r>
            <a:r>
              <a:rPr sz="1150" b="0" i="0">
                <a:solidFill>
                  <a:srgbClr val="212121"/>
                </a:solidFill>
                <a:latin typeface="Arial"/>
              </a:rPr>
              <a:t>Welford in FP32 rounds `mean` at input magnitude on every element; the centered two-pass squares small deviations instead → max err 1.2e-3 vs 1.2e-5 at shift 10⁴ (our SIMD port). ATen mitigates with chunk-16 accumulation + cascade merging — at the cost of the serial recurrence that makes it slow on SIMD.</a:t>
            </a:r>
          </a:p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150" b="1" i="0">
                <a:solidFill>
                  <a:srgbClr val="002F5D"/>
                </a:solidFill>
                <a:latin typeface="Arial"/>
              </a:rPr>
              <a:t>•  </a:t>
            </a:r>
            <a:r>
              <a:rPr sz="1150" b="0" i="0">
                <a:solidFill>
                  <a:srgbClr val="212121"/>
                </a:solidFill>
                <a:latin typeface="Arial"/>
              </a:rPr>
              <a:t>RMSNorm sidesteps the problem: Σx² needs no mean subtraction — part of why it is both faster and stable.</a:t>
            </a:r>
          </a:p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150" b="1" i="0">
                <a:solidFill>
                  <a:srgbClr val="002F5D"/>
                </a:solidFill>
                <a:latin typeface="Arial"/>
              </a:rPr>
              <a:t>•  </a:t>
            </a:r>
            <a:r>
              <a:rPr sz="1150" b="0" i="0">
                <a:solidFill>
                  <a:srgbClr val="212121"/>
                </a:solidFill>
                <a:latin typeface="Arial"/>
              </a:rPr>
              <a:t>Tolerances are documented, never widened silently: </a:t>
            </a:r>
            <a:r>
              <a:rPr sz="1100" b="1" i="0">
                <a:solidFill>
                  <a:srgbClr val="212121"/>
                </a:solidFill>
                <a:latin typeface="Consolas"/>
              </a:rPr>
              <a:t>kTol = 1e-5</a:t>
            </a:r>
            <a:r>
              <a:rPr sz="1150" b="0" i="0">
                <a:solidFill>
                  <a:srgbClr val="212121"/>
                </a:solidFill>
                <a:latin typeface="Arial"/>
              </a:rPr>
              <a:t>; V4/V5’s tree-order summation is verified at a documented </a:t>
            </a:r>
            <a:r>
              <a:rPr sz="1100" b="1" i="0">
                <a:solidFill>
                  <a:srgbClr val="212121"/>
                </a:solidFill>
                <a:latin typeface="Consolas"/>
              </a:rPr>
              <a:t>kTolReassoc = 2e-5</a:t>
            </a:r>
            <a:r>
              <a:rPr sz="1150" b="0" i="0">
                <a:solidFill>
                  <a:srgbClr val="212121"/>
                </a:solidFill>
                <a:latin typeface="Arial"/>
              </a:rPr>
              <a:t>; V6 restores strict sequential order per block → back to kTol.</a:t>
            </a:r>
          </a:p>
        </p:txBody>
      </p:sp>
      <p:pic>
        <p:nvPicPr>
          <p:cNvPr id="6" name="Picture 5" descr="stri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088636"/>
            <a:ext cx="9144000" cy="5486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32604"/>
            <a:ext cx="58521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8A8A8A"/>
                </a:solidFill>
                <a:latin typeface="Arial"/>
              </a:rPr>
              <a:t>ML Compilers Lab — MLC-Norm · FSU Jena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66760" y="4832604"/>
            <a:ext cx="3657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Arial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46304"/>
            <a:ext cx="82296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595959"/>
                </a:solidFill>
                <a:latin typeface="Arial"/>
              </a:rPr>
              <a:t>BACKUP · WHAT AN FP32 TOLERANCE CAN HIDE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47472"/>
            <a:ext cx="82296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50" b="1" i="0">
                <a:solidFill>
                  <a:srgbClr val="002F5D"/>
                </a:solidFill>
                <a:latin typeface="Arial"/>
              </a:rPr>
              <a:t>B4 · The eps register-stash bug — found by an empirical zero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49808"/>
            <a:ext cx="502920" cy="33020"/>
          </a:xfrm>
          <a:prstGeom prst="rect">
            <a:avLst/>
          </a:prstGeom>
          <a:solidFill>
            <a:srgbClr val="002F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896112"/>
            <a:ext cx="8229600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150" b="1" i="0">
                <a:solidFill>
                  <a:srgbClr val="002F5D"/>
                </a:solidFill>
                <a:latin typeface="Arial"/>
              </a:rPr>
              <a:t>•  </a:t>
            </a:r>
            <a:r>
              <a:rPr sz="1150" b="1" i="0">
                <a:solidFill>
                  <a:srgbClr val="212121"/>
                </a:solidFill>
                <a:latin typeface="Arial"/>
              </a:rPr>
              <a:t>13 of 15 kernels silently lost ε across smstart</a:t>
            </a:r>
            <a:r>
              <a:rPr sz="1150" b="0" i="0">
                <a:solidFill>
                  <a:srgbClr val="212121"/>
                </a:solidFill>
                <a:latin typeface="Arial"/>
              </a:rPr>
              <a:t> — stashed in S8/D8, but streaming-mode entry clobbers D8 too (not only D9–D15), and one stack reload aliased the caller’s old d8.</a:t>
            </a:r>
          </a:p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150" b="1" i="0">
                <a:solidFill>
                  <a:srgbClr val="002F5D"/>
                </a:solidFill>
                <a:latin typeface="Arial"/>
              </a:rPr>
              <a:t>•  </a:t>
            </a:r>
            <a:r>
              <a:rPr sz="1150" b="0" i="0">
                <a:solidFill>
                  <a:srgbClr val="212121"/>
                </a:solidFill>
                <a:latin typeface="Arial"/>
              </a:rPr>
              <a:t>Invisible to every tolerance-based test: ε’s effect on non-degenerate data is far below FP32 comparison tolerance.</a:t>
            </a:r>
          </a:p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150" b="1" i="0">
                <a:solidFill>
                  <a:srgbClr val="002F5D"/>
                </a:solidFill>
                <a:latin typeface="Arial"/>
              </a:rPr>
              <a:t>•  </a:t>
            </a:r>
            <a:r>
              <a:rPr sz="1150" b="0" i="0">
                <a:solidFill>
                  <a:srgbClr val="212121"/>
                </a:solidFill>
                <a:latin typeface="Arial"/>
              </a:rPr>
              <a:t>Only observable when sumsq/variance is exactly zero — then ε is all that stands between 1/0 = inf and NaN propagating through the normalize step. An all-zero row found it.</a:t>
            </a:r>
          </a:p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150" b="1" i="0">
                <a:solidFill>
                  <a:srgbClr val="002F5D"/>
                </a:solidFill>
                <a:latin typeface="Arial"/>
              </a:rPr>
              <a:t>•  </a:t>
            </a:r>
            <a:r>
              <a:rPr sz="1150" b="0" i="0">
                <a:solidFill>
                  <a:srgbClr val="212121"/>
                </a:solidFill>
                <a:latin typeface="Arial"/>
              </a:rPr>
              <a:t>Fix: ε goes to a dedicated stack slot before smstart, reloaded after — memory, unlike any register, survives a PSTATE.SM transition. Two regression tests lock it in; suite re-verified green (352 473 assertions, 93 cases).</a:t>
            </a:r>
          </a:p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150" b="1" i="0">
                <a:solidFill>
                  <a:srgbClr val="002F5D"/>
                </a:solidFill>
                <a:latin typeface="Arial"/>
              </a:rPr>
              <a:t>•  </a:t>
            </a:r>
            <a:r>
              <a:rPr sz="1150" b="0" i="1">
                <a:solidFill>
                  <a:srgbClr val="595959"/>
                </a:solidFill>
                <a:latin typeface="Arial"/>
              </a:rPr>
              <a:t>Third appearance of the streaming-entry register hazard in this project — each time in a new disguise.</a:t>
            </a:r>
          </a:p>
        </p:txBody>
      </p:sp>
      <p:pic>
        <p:nvPicPr>
          <p:cNvPr id="6" name="Picture 5" descr="stri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088636"/>
            <a:ext cx="9144000" cy="5486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32604"/>
            <a:ext cx="58521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8A8A8A"/>
                </a:solidFill>
                <a:latin typeface="Arial"/>
              </a:rPr>
              <a:t>ML Compilers Lab — MLC-Norm · FSU Jena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66760" y="4832604"/>
            <a:ext cx="3657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Arial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46304"/>
            <a:ext cx="82296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595959"/>
                </a:solidFill>
                <a:latin typeface="Arial"/>
              </a:rPr>
              <a:t>BACKUP · “IT ASSEMBLES” ≠ “IT’S THE INSTRUCTION YOU MEANT”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47472"/>
            <a:ext cx="82296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50" b="1" i="0">
                <a:solidFill>
                  <a:srgbClr val="002F5D"/>
                </a:solidFill>
                <a:latin typeface="Arial"/>
              </a:rPr>
              <a:t>B5 · Encoding-diff methodology — and what exactness caught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49808"/>
            <a:ext cx="502920" cy="33020"/>
          </a:xfrm>
          <a:prstGeom prst="rect">
            <a:avLst/>
          </a:prstGeom>
          <a:solidFill>
            <a:srgbClr val="002F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896112"/>
            <a:ext cx="8229600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150" b="1" i="0">
                <a:solidFill>
                  <a:srgbClr val="002F5D"/>
                </a:solidFill>
                <a:latin typeface="Arial"/>
              </a:rPr>
              <a:t>•  </a:t>
            </a:r>
            <a:r>
              <a:rPr sz="1150" b="0" i="0">
                <a:solidFill>
                  <a:srgbClr val="212121"/>
                </a:solidFill>
                <a:latin typeface="Arial"/>
              </a:rPr>
              <a:t>Three verification layers, weakest → strongest: </a:t>
            </a:r>
            <a:r>
              <a:rPr sz="1150" b="0" i="0">
                <a:solidFill>
                  <a:srgbClr val="212121"/>
                </a:solidFill>
                <a:latin typeface="Arial"/>
              </a:rPr>
              <a:t>per-encoder golden words (objdump + Arm ARM field layouts) → whole-kernel word diff vs the linked hand-written kernel (read from its function address — can never go stale) → execution vs the C++ reference.</a:t>
            </a:r>
          </a:p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150" b="1" i="0">
                <a:solidFill>
                  <a:srgbClr val="002F5D"/>
                </a:solidFill>
                <a:latin typeface="Arial"/>
              </a:rPr>
              <a:t>•  </a:t>
            </a:r>
            <a:r>
              <a:rPr sz="1100" b="1" i="0">
                <a:solidFill>
                  <a:srgbClr val="212121"/>
                </a:solidFill>
                <a:latin typeface="Consolas"/>
              </a:rPr>
              <a:t>sve_ptrue_all(fp32)</a:t>
            </a:r>
            <a:r>
              <a:rPr sz="1150" b="0" i="0">
                <a:solidFill>
                  <a:srgbClr val="212121"/>
                </a:solidFill>
                <a:latin typeface="Arial"/>
              </a:rPr>
              <a:t> emitted PTRUE P.B, not the P.S its comment promised — functionally masked (ALL-true .B governs .S identically), still wrong. Fixed, pinned by test.</a:t>
            </a:r>
          </a:p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150" b="1" i="0">
                <a:solidFill>
                  <a:srgbClr val="002F5D"/>
                </a:solidFill>
                <a:latin typeface="Arial"/>
              </a:rPr>
              <a:t>•  </a:t>
            </a:r>
            <a:r>
              <a:rPr sz="1100" b="1" i="0">
                <a:solidFill>
                  <a:srgbClr val="212121"/>
                </a:solidFill>
                <a:latin typeface="Consolas"/>
              </a:rPr>
              <a:t>sme_smstart_sm()</a:t>
            </a:r>
            <a:r>
              <a:rPr sz="1150" b="0" i="0">
                <a:solidFill>
                  <a:srgbClr val="212121"/>
                </a:solidFill>
                <a:latin typeface="Arial"/>
              </a:rPr>
              <a:t> actually encodes SMSTART SM+ZA — correct for Gemm, wrong by name, and wrong for norms (SM-only avoids ZA lazy-save hazards). Correctly-named SM-only forms added.</a:t>
            </a:r>
          </a:p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150" b="1" i="0">
                <a:solidFill>
                  <a:srgbClr val="002F5D"/>
                </a:solidFill>
                <a:latin typeface="Arial"/>
              </a:rPr>
              <a:t>•  </a:t>
            </a:r>
            <a:r>
              <a:rPr sz="1150" b="0" i="0">
                <a:solidFill>
                  <a:srgbClr val="212121"/>
                </a:solidFill>
                <a:latin typeface="Arial"/>
              </a:rPr>
              <a:t>The parity run found a harness bug: a word-identical JIT kernel “+76 % faster” → impossible → cpu_supports_sme() did an uncached sysctl syscall (~1 µs) per wrapped call. Cached; Sprint-2a’s small-N t0 restated (≈70 % of it was syscall; true t0 ≲ 0.4 µs).</a:t>
            </a:r>
          </a:p>
        </p:txBody>
      </p:sp>
      <p:pic>
        <p:nvPicPr>
          <p:cNvPr id="6" name="Picture 5" descr="stri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088636"/>
            <a:ext cx="9144000" cy="5486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32604"/>
            <a:ext cx="58521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8A8A8A"/>
                </a:solidFill>
                <a:latin typeface="Arial"/>
              </a:rPr>
              <a:t>ML Compilers Lab — MLC-Norm · FSU Jena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66760" y="4832604"/>
            <a:ext cx="3657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Arial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46304"/>
            <a:ext cx="82296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595959"/>
                </a:solidFill>
                <a:latin typeface="Arial"/>
              </a:rPr>
              <a:t>BACKUP · APPLE M4, USEFUL BYTES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47472"/>
            <a:ext cx="82296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50" b="1" i="0">
                <a:solidFill>
                  <a:srgbClr val="002F5D"/>
                </a:solidFill>
                <a:latin typeface="Arial"/>
              </a:rPr>
              <a:t>B6 · ZA measurements in full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49808"/>
            <a:ext cx="502920" cy="33020"/>
          </a:xfrm>
          <a:prstGeom prst="rect">
            <a:avLst/>
          </a:prstGeom>
          <a:solidFill>
            <a:srgbClr val="002F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41832"/>
            <a:ext cx="42062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02F5D"/>
                </a:solidFill>
                <a:latin typeface="Arial"/>
              </a:rPr>
              <a:t>RMSNorm — rms_norm_za vs V6 (GiB/s)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16152"/>
            <a:ext cx="1234440" cy="237744"/>
          </a:xfrm>
          <a:prstGeom prst="rect">
            <a:avLst/>
          </a:prstGeom>
          <a:solidFill>
            <a:srgbClr val="002F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243584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Arial"/>
              </a:rPr>
              <a:t>shape</a:t>
            </a:r>
          </a:p>
        </p:txBody>
      </p:sp>
      <p:sp>
        <p:nvSpPr>
          <p:cNvPr id="8" name="Rectangle 7"/>
          <p:cNvSpPr/>
          <p:nvPr/>
        </p:nvSpPr>
        <p:spPr>
          <a:xfrm>
            <a:off x="1691640" y="1216152"/>
            <a:ext cx="1234440" cy="237744"/>
          </a:xfrm>
          <a:prstGeom prst="rect">
            <a:avLst/>
          </a:prstGeom>
          <a:solidFill>
            <a:srgbClr val="002F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91640" y="1243584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Arial"/>
              </a:rPr>
              <a:t>path</a:t>
            </a:r>
          </a:p>
        </p:txBody>
      </p:sp>
      <p:sp>
        <p:nvSpPr>
          <p:cNvPr id="10" name="Rectangle 9"/>
          <p:cNvSpPr/>
          <p:nvPr/>
        </p:nvSpPr>
        <p:spPr>
          <a:xfrm>
            <a:off x="2926080" y="1216152"/>
            <a:ext cx="566928" cy="237744"/>
          </a:xfrm>
          <a:prstGeom prst="rect">
            <a:avLst/>
          </a:prstGeom>
          <a:solidFill>
            <a:srgbClr val="002F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26080" y="1243584"/>
            <a:ext cx="56692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Arial"/>
              </a:rPr>
              <a:t>V6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93008" y="1216152"/>
            <a:ext cx="566928" cy="237744"/>
          </a:xfrm>
          <a:prstGeom prst="rect">
            <a:avLst/>
          </a:prstGeom>
          <a:solidFill>
            <a:srgbClr val="002F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93008" y="1243584"/>
            <a:ext cx="56692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Arial"/>
              </a:rPr>
              <a:t>ZA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059936" y="1216152"/>
            <a:ext cx="603504" cy="237744"/>
          </a:xfrm>
          <a:prstGeom prst="rect">
            <a:avLst/>
          </a:prstGeom>
          <a:solidFill>
            <a:srgbClr val="002F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059936" y="1243584"/>
            <a:ext cx="60350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Arial"/>
              </a:rPr>
              <a:t>Δ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1453896"/>
            <a:ext cx="1234440" cy="237744"/>
          </a:xfrm>
          <a:prstGeom prst="rect">
            <a:avLst/>
          </a:prstGeom>
          <a:solidFill>
            <a:srgbClr val="F4F8FD"/>
          </a:solidFill>
          <a:ln w="6350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1485900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212121"/>
                </a:solidFill>
                <a:latin typeface="Arial"/>
              </a:rPr>
              <a:t>128×16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91640" y="1453896"/>
            <a:ext cx="1234440" cy="237744"/>
          </a:xfrm>
          <a:prstGeom prst="rect">
            <a:avLst/>
          </a:prstGeom>
          <a:solidFill>
            <a:srgbClr val="F4F8FD"/>
          </a:solidFill>
          <a:ln w="6350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91640" y="1485900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212121"/>
                </a:solidFill>
                <a:latin typeface="Arial"/>
              </a:rPr>
              <a:t>ZA (1 tile)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926080" y="1453896"/>
            <a:ext cx="566928" cy="237744"/>
          </a:xfrm>
          <a:prstGeom prst="rect">
            <a:avLst/>
          </a:prstGeom>
          <a:solidFill>
            <a:srgbClr val="F4F8FD"/>
          </a:solidFill>
          <a:ln w="6350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926080" y="1485900"/>
            <a:ext cx="56692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212121"/>
                </a:solidFill>
                <a:latin typeface="Arial"/>
              </a:rPr>
              <a:t>11.5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493008" y="1453896"/>
            <a:ext cx="566928" cy="237744"/>
          </a:xfrm>
          <a:prstGeom prst="rect">
            <a:avLst/>
          </a:prstGeom>
          <a:solidFill>
            <a:srgbClr val="F4F8FD"/>
          </a:solidFill>
          <a:ln w="6350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493008" y="1485900"/>
            <a:ext cx="56692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212121"/>
                </a:solidFill>
                <a:latin typeface="Arial"/>
              </a:rPr>
              <a:t>6.8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059936" y="1453896"/>
            <a:ext cx="603504" cy="237744"/>
          </a:xfrm>
          <a:prstGeom prst="rect">
            <a:avLst/>
          </a:prstGeom>
          <a:solidFill>
            <a:srgbClr val="F4F8FD"/>
          </a:solidFill>
          <a:ln w="6350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059936" y="1485900"/>
            <a:ext cx="60350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1" i="0">
                <a:solidFill>
                  <a:srgbClr val="B3261E"/>
                </a:solidFill>
                <a:latin typeface="Arial"/>
              </a:rPr>
              <a:t>−41 %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1691640"/>
            <a:ext cx="123444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1723644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212121"/>
                </a:solidFill>
                <a:latin typeface="Arial"/>
              </a:rPr>
              <a:t>128×64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691640" y="1691640"/>
            <a:ext cx="123444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691640" y="1723644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212121"/>
                </a:solidFill>
                <a:latin typeface="Arial"/>
              </a:rPr>
              <a:t>ZA (4 tiles)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926080" y="1691640"/>
            <a:ext cx="566928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926080" y="1723644"/>
            <a:ext cx="56692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212121"/>
                </a:solidFill>
                <a:latin typeface="Arial"/>
              </a:rPr>
              <a:t>21.5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493008" y="1691640"/>
            <a:ext cx="566928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493008" y="1723644"/>
            <a:ext cx="56692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212121"/>
                </a:solidFill>
                <a:latin typeface="Arial"/>
              </a:rPr>
              <a:t>8.4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059936" y="1691640"/>
            <a:ext cx="603504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059936" y="1723644"/>
            <a:ext cx="60350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1" i="0">
                <a:solidFill>
                  <a:srgbClr val="B3261E"/>
                </a:solidFill>
                <a:latin typeface="Arial"/>
              </a:rPr>
              <a:t>−61 %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1929384"/>
            <a:ext cx="1234440" cy="237744"/>
          </a:xfrm>
          <a:prstGeom prst="rect">
            <a:avLst/>
          </a:prstGeom>
          <a:solidFill>
            <a:srgbClr val="F4F8FD"/>
          </a:solidFill>
          <a:ln w="6350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7200" y="196138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212121"/>
                </a:solidFill>
                <a:latin typeface="Arial"/>
              </a:rPr>
              <a:t>1024×64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691640" y="1929384"/>
            <a:ext cx="1234440" cy="237744"/>
          </a:xfrm>
          <a:prstGeom prst="rect">
            <a:avLst/>
          </a:prstGeom>
          <a:solidFill>
            <a:srgbClr val="F4F8FD"/>
          </a:solidFill>
          <a:ln w="6350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691640" y="196138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212121"/>
                </a:solidFill>
                <a:latin typeface="Arial"/>
              </a:rPr>
              <a:t>ZA (4 tiles)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926080" y="1929384"/>
            <a:ext cx="566928" cy="237744"/>
          </a:xfrm>
          <a:prstGeom prst="rect">
            <a:avLst/>
          </a:prstGeom>
          <a:solidFill>
            <a:srgbClr val="F4F8FD"/>
          </a:solidFill>
          <a:ln w="6350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926080" y="1961388"/>
            <a:ext cx="56692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212121"/>
                </a:solidFill>
                <a:latin typeface="Arial"/>
              </a:rPr>
              <a:t>30.2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493008" y="1929384"/>
            <a:ext cx="566928" cy="237744"/>
          </a:xfrm>
          <a:prstGeom prst="rect">
            <a:avLst/>
          </a:prstGeom>
          <a:solidFill>
            <a:srgbClr val="F4F8FD"/>
          </a:solidFill>
          <a:ln w="6350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493008" y="1961388"/>
            <a:ext cx="56692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212121"/>
                </a:solidFill>
                <a:latin typeface="Arial"/>
              </a:rPr>
              <a:t>10.9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059936" y="1929384"/>
            <a:ext cx="603504" cy="237744"/>
          </a:xfrm>
          <a:prstGeom prst="rect">
            <a:avLst/>
          </a:prstGeom>
          <a:solidFill>
            <a:srgbClr val="F4F8FD"/>
          </a:solidFill>
          <a:ln w="6350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059936" y="1961388"/>
            <a:ext cx="60350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1" i="0">
                <a:solidFill>
                  <a:srgbClr val="B3261E"/>
                </a:solidFill>
                <a:latin typeface="Arial"/>
              </a:rPr>
              <a:t>−64 %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7200" y="2167128"/>
            <a:ext cx="123444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57200" y="2199132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212121"/>
                </a:solidFill>
                <a:latin typeface="Arial"/>
              </a:rPr>
              <a:t>4096×64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691640" y="2167128"/>
            <a:ext cx="123444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691640" y="2199132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212121"/>
                </a:solidFill>
                <a:latin typeface="Arial"/>
              </a:rPr>
              <a:t>ZA (4 tiles)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926080" y="2167128"/>
            <a:ext cx="566928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926080" y="2199132"/>
            <a:ext cx="56692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212121"/>
                </a:solidFill>
                <a:latin typeface="Arial"/>
              </a:rPr>
              <a:t>31.1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493008" y="2167128"/>
            <a:ext cx="566928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493008" y="2199132"/>
            <a:ext cx="56692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212121"/>
                </a:solidFill>
                <a:latin typeface="Arial"/>
              </a:rPr>
              <a:t>11.0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059936" y="2167128"/>
            <a:ext cx="603504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059936" y="2199132"/>
            <a:ext cx="60350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1" i="0">
                <a:solidFill>
                  <a:srgbClr val="B3261E"/>
                </a:solidFill>
                <a:latin typeface="Arial"/>
              </a:rPr>
              <a:t>−65 %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57200" y="2404872"/>
            <a:ext cx="1234440" cy="237744"/>
          </a:xfrm>
          <a:prstGeom prst="rect">
            <a:avLst/>
          </a:prstGeom>
          <a:solidFill>
            <a:srgbClr val="F4F8FD"/>
          </a:solidFill>
          <a:ln w="6350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57200" y="2436876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212121"/>
                </a:solidFill>
                <a:latin typeface="Arial"/>
              </a:rPr>
              <a:t>128×2048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691640" y="2404872"/>
            <a:ext cx="1234440" cy="237744"/>
          </a:xfrm>
          <a:prstGeom prst="rect">
            <a:avLst/>
          </a:prstGeom>
          <a:solidFill>
            <a:srgbClr val="F4F8FD"/>
          </a:solidFill>
          <a:ln w="6350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691640" y="2436876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212121"/>
                </a:solidFill>
                <a:latin typeface="Arial"/>
              </a:rPr>
              <a:t>fallback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926080" y="2404872"/>
            <a:ext cx="566928" cy="237744"/>
          </a:xfrm>
          <a:prstGeom prst="rect">
            <a:avLst/>
          </a:prstGeom>
          <a:solidFill>
            <a:srgbClr val="F4F8FD"/>
          </a:solidFill>
          <a:ln w="6350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926080" y="2436876"/>
            <a:ext cx="56692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212121"/>
                </a:solidFill>
                <a:latin typeface="Arial"/>
              </a:rPr>
              <a:t>34.8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493008" y="2404872"/>
            <a:ext cx="566928" cy="237744"/>
          </a:xfrm>
          <a:prstGeom prst="rect">
            <a:avLst/>
          </a:prstGeom>
          <a:solidFill>
            <a:srgbClr val="F4F8FD"/>
          </a:solidFill>
          <a:ln w="6350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493008" y="2436876"/>
            <a:ext cx="56692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212121"/>
                </a:solidFill>
                <a:latin typeface="Arial"/>
              </a:rPr>
              <a:t>25.1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059936" y="2404872"/>
            <a:ext cx="603504" cy="237744"/>
          </a:xfrm>
          <a:prstGeom prst="rect">
            <a:avLst/>
          </a:prstGeom>
          <a:solidFill>
            <a:srgbClr val="F4F8FD"/>
          </a:solidFill>
          <a:ln w="6350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059936" y="2436876"/>
            <a:ext cx="60350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1" i="0">
                <a:solidFill>
                  <a:srgbClr val="B3261E"/>
                </a:solidFill>
                <a:latin typeface="Arial"/>
              </a:rPr>
              <a:t>−28 %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57200" y="2642616"/>
            <a:ext cx="123444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57200" y="2674620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212121"/>
                </a:solidFill>
                <a:latin typeface="Arial"/>
              </a:rPr>
              <a:t>1024×2048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691640" y="2642616"/>
            <a:ext cx="123444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691640" y="2674620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212121"/>
                </a:solidFill>
                <a:latin typeface="Arial"/>
              </a:rPr>
              <a:t>fallback</a:t>
            </a:r>
          </a:p>
        </p:txBody>
      </p:sp>
      <p:sp>
        <p:nvSpPr>
          <p:cNvPr id="70" name="Rectangle 69"/>
          <p:cNvSpPr/>
          <p:nvPr/>
        </p:nvSpPr>
        <p:spPr>
          <a:xfrm>
            <a:off x="2926080" y="2642616"/>
            <a:ext cx="566928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2926080" y="2674620"/>
            <a:ext cx="56692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212121"/>
                </a:solidFill>
                <a:latin typeface="Arial"/>
              </a:rPr>
              <a:t>38.0</a:t>
            </a:r>
          </a:p>
        </p:txBody>
      </p:sp>
      <p:sp>
        <p:nvSpPr>
          <p:cNvPr id="72" name="Rectangle 71"/>
          <p:cNvSpPr/>
          <p:nvPr/>
        </p:nvSpPr>
        <p:spPr>
          <a:xfrm>
            <a:off x="3493008" y="2642616"/>
            <a:ext cx="566928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3493008" y="2674620"/>
            <a:ext cx="56692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212121"/>
                </a:solidFill>
                <a:latin typeface="Arial"/>
              </a:rPr>
              <a:t>24.7</a:t>
            </a:r>
          </a:p>
        </p:txBody>
      </p:sp>
      <p:sp>
        <p:nvSpPr>
          <p:cNvPr id="74" name="Rectangle 73"/>
          <p:cNvSpPr/>
          <p:nvPr/>
        </p:nvSpPr>
        <p:spPr>
          <a:xfrm>
            <a:off x="4059936" y="2642616"/>
            <a:ext cx="603504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4059936" y="2674620"/>
            <a:ext cx="60350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1" i="0">
                <a:solidFill>
                  <a:srgbClr val="B3261E"/>
                </a:solidFill>
                <a:latin typeface="Arial"/>
              </a:rPr>
              <a:t>−35 %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754880" y="941832"/>
            <a:ext cx="42062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02F5D"/>
                </a:solidFill>
                <a:latin typeface="Arial"/>
              </a:rPr>
              <a:t>LayerNorm — layer_norm_za vs V6 (GiB/s)</a:t>
            </a:r>
          </a:p>
        </p:txBody>
      </p:sp>
      <p:sp>
        <p:nvSpPr>
          <p:cNvPr id="77" name="Rectangle 76"/>
          <p:cNvSpPr/>
          <p:nvPr/>
        </p:nvSpPr>
        <p:spPr>
          <a:xfrm>
            <a:off x="4754880" y="1216152"/>
            <a:ext cx="1234440" cy="237744"/>
          </a:xfrm>
          <a:prstGeom prst="rect">
            <a:avLst/>
          </a:prstGeom>
          <a:solidFill>
            <a:srgbClr val="002F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4754880" y="1243584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Arial"/>
              </a:rPr>
              <a:t>shape</a:t>
            </a:r>
          </a:p>
        </p:txBody>
      </p:sp>
      <p:sp>
        <p:nvSpPr>
          <p:cNvPr id="79" name="Rectangle 78"/>
          <p:cNvSpPr/>
          <p:nvPr/>
        </p:nvSpPr>
        <p:spPr>
          <a:xfrm>
            <a:off x="5989320" y="1216152"/>
            <a:ext cx="1234440" cy="237744"/>
          </a:xfrm>
          <a:prstGeom prst="rect">
            <a:avLst/>
          </a:prstGeom>
          <a:solidFill>
            <a:srgbClr val="002F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5989320" y="1243584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Arial"/>
              </a:rPr>
              <a:t>path</a:t>
            </a:r>
          </a:p>
        </p:txBody>
      </p:sp>
      <p:sp>
        <p:nvSpPr>
          <p:cNvPr id="81" name="Rectangle 80"/>
          <p:cNvSpPr/>
          <p:nvPr/>
        </p:nvSpPr>
        <p:spPr>
          <a:xfrm>
            <a:off x="7223760" y="1216152"/>
            <a:ext cx="566928" cy="237744"/>
          </a:xfrm>
          <a:prstGeom prst="rect">
            <a:avLst/>
          </a:prstGeom>
          <a:solidFill>
            <a:srgbClr val="002F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7223760" y="1243584"/>
            <a:ext cx="56692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Arial"/>
              </a:rPr>
              <a:t>V6</a:t>
            </a:r>
          </a:p>
        </p:txBody>
      </p:sp>
      <p:sp>
        <p:nvSpPr>
          <p:cNvPr id="83" name="Rectangle 82"/>
          <p:cNvSpPr/>
          <p:nvPr/>
        </p:nvSpPr>
        <p:spPr>
          <a:xfrm>
            <a:off x="7790688" y="1216152"/>
            <a:ext cx="566928" cy="237744"/>
          </a:xfrm>
          <a:prstGeom prst="rect">
            <a:avLst/>
          </a:prstGeom>
          <a:solidFill>
            <a:srgbClr val="002F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7790688" y="1243584"/>
            <a:ext cx="56692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Arial"/>
              </a:rPr>
              <a:t>ZA</a:t>
            </a:r>
          </a:p>
        </p:txBody>
      </p:sp>
      <p:sp>
        <p:nvSpPr>
          <p:cNvPr id="85" name="Rectangle 84"/>
          <p:cNvSpPr/>
          <p:nvPr/>
        </p:nvSpPr>
        <p:spPr>
          <a:xfrm>
            <a:off x="8357616" y="1216152"/>
            <a:ext cx="603504" cy="237744"/>
          </a:xfrm>
          <a:prstGeom prst="rect">
            <a:avLst/>
          </a:prstGeom>
          <a:solidFill>
            <a:srgbClr val="002F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8357616" y="1243584"/>
            <a:ext cx="60350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Arial"/>
              </a:rPr>
              <a:t>Δ</a:t>
            </a:r>
          </a:p>
        </p:txBody>
      </p:sp>
      <p:sp>
        <p:nvSpPr>
          <p:cNvPr id="87" name="Rectangle 86"/>
          <p:cNvSpPr/>
          <p:nvPr/>
        </p:nvSpPr>
        <p:spPr>
          <a:xfrm>
            <a:off x="4754880" y="1453896"/>
            <a:ext cx="1234440" cy="237744"/>
          </a:xfrm>
          <a:prstGeom prst="rect">
            <a:avLst/>
          </a:prstGeom>
          <a:solidFill>
            <a:srgbClr val="F4F8FD"/>
          </a:solidFill>
          <a:ln w="6350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4754880" y="1485900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212121"/>
                </a:solidFill>
                <a:latin typeface="Arial"/>
              </a:rPr>
              <a:t>128×16</a:t>
            </a:r>
          </a:p>
        </p:txBody>
      </p:sp>
      <p:sp>
        <p:nvSpPr>
          <p:cNvPr id="89" name="Rectangle 88"/>
          <p:cNvSpPr/>
          <p:nvPr/>
        </p:nvSpPr>
        <p:spPr>
          <a:xfrm>
            <a:off x="5989320" y="1453896"/>
            <a:ext cx="1234440" cy="237744"/>
          </a:xfrm>
          <a:prstGeom prst="rect">
            <a:avLst/>
          </a:prstGeom>
          <a:solidFill>
            <a:srgbClr val="F4F8FD"/>
          </a:solidFill>
          <a:ln w="6350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5989320" y="1485900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212121"/>
                </a:solidFill>
                <a:latin typeface="Arial"/>
              </a:rPr>
              <a:t>ZA (1 tile)</a:t>
            </a:r>
          </a:p>
        </p:txBody>
      </p:sp>
      <p:sp>
        <p:nvSpPr>
          <p:cNvPr id="91" name="Rectangle 90"/>
          <p:cNvSpPr/>
          <p:nvPr/>
        </p:nvSpPr>
        <p:spPr>
          <a:xfrm>
            <a:off x="7223760" y="1453896"/>
            <a:ext cx="566928" cy="237744"/>
          </a:xfrm>
          <a:prstGeom prst="rect">
            <a:avLst/>
          </a:prstGeom>
          <a:solidFill>
            <a:srgbClr val="F4F8FD"/>
          </a:solidFill>
          <a:ln w="6350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7223760" y="1485900"/>
            <a:ext cx="56692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212121"/>
                </a:solidFill>
                <a:latin typeface="Arial"/>
              </a:rPr>
              <a:t>7.5</a:t>
            </a:r>
          </a:p>
        </p:txBody>
      </p:sp>
      <p:sp>
        <p:nvSpPr>
          <p:cNvPr id="93" name="Rectangle 92"/>
          <p:cNvSpPr/>
          <p:nvPr/>
        </p:nvSpPr>
        <p:spPr>
          <a:xfrm>
            <a:off x="7790688" y="1453896"/>
            <a:ext cx="566928" cy="237744"/>
          </a:xfrm>
          <a:prstGeom prst="rect">
            <a:avLst/>
          </a:prstGeom>
          <a:solidFill>
            <a:srgbClr val="F4F8FD"/>
          </a:solidFill>
          <a:ln w="6350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7790688" y="1485900"/>
            <a:ext cx="56692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212121"/>
                </a:solidFill>
                <a:latin typeface="Arial"/>
              </a:rPr>
              <a:t>3.7</a:t>
            </a:r>
          </a:p>
        </p:txBody>
      </p:sp>
      <p:sp>
        <p:nvSpPr>
          <p:cNvPr id="95" name="Rectangle 94"/>
          <p:cNvSpPr/>
          <p:nvPr/>
        </p:nvSpPr>
        <p:spPr>
          <a:xfrm>
            <a:off x="8357616" y="1453896"/>
            <a:ext cx="603504" cy="237744"/>
          </a:xfrm>
          <a:prstGeom prst="rect">
            <a:avLst/>
          </a:prstGeom>
          <a:solidFill>
            <a:srgbClr val="F4F8FD"/>
          </a:solidFill>
          <a:ln w="6350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8357616" y="1485900"/>
            <a:ext cx="60350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1" i="0">
                <a:solidFill>
                  <a:srgbClr val="B3261E"/>
                </a:solidFill>
                <a:latin typeface="Arial"/>
              </a:rPr>
              <a:t>−51 %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4754880" y="1691640"/>
            <a:ext cx="123444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4754880" y="1723644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212121"/>
                </a:solidFill>
                <a:latin typeface="Arial"/>
              </a:rPr>
              <a:t>128×64</a:t>
            </a:r>
          </a:p>
        </p:txBody>
      </p:sp>
      <p:sp>
        <p:nvSpPr>
          <p:cNvPr id="99" name="Rectangle 98"/>
          <p:cNvSpPr/>
          <p:nvPr/>
        </p:nvSpPr>
        <p:spPr>
          <a:xfrm>
            <a:off x="5989320" y="1691640"/>
            <a:ext cx="123444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5989320" y="1723644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212121"/>
                </a:solidFill>
                <a:latin typeface="Arial"/>
              </a:rPr>
              <a:t>ZA (4 tiles)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7223760" y="1691640"/>
            <a:ext cx="566928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7223760" y="1723644"/>
            <a:ext cx="56692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212121"/>
                </a:solidFill>
                <a:latin typeface="Arial"/>
              </a:rPr>
              <a:t>11.8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7790688" y="1691640"/>
            <a:ext cx="566928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7790688" y="1723644"/>
            <a:ext cx="56692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212121"/>
                </a:solidFill>
                <a:latin typeface="Arial"/>
              </a:rPr>
              <a:t>4.6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8357616" y="1691640"/>
            <a:ext cx="603504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8357616" y="1723644"/>
            <a:ext cx="60350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1" i="0">
                <a:solidFill>
                  <a:srgbClr val="B3261E"/>
                </a:solidFill>
                <a:latin typeface="Arial"/>
              </a:rPr>
              <a:t>−61 %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4754880" y="1929384"/>
            <a:ext cx="1234440" cy="237744"/>
          </a:xfrm>
          <a:prstGeom prst="rect">
            <a:avLst/>
          </a:prstGeom>
          <a:solidFill>
            <a:srgbClr val="F4F8FD"/>
          </a:solidFill>
          <a:ln w="6350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4754880" y="196138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212121"/>
                </a:solidFill>
                <a:latin typeface="Arial"/>
              </a:rPr>
              <a:t>1024×64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5989320" y="1929384"/>
            <a:ext cx="1234440" cy="237744"/>
          </a:xfrm>
          <a:prstGeom prst="rect">
            <a:avLst/>
          </a:prstGeom>
          <a:solidFill>
            <a:srgbClr val="F4F8FD"/>
          </a:solidFill>
          <a:ln w="6350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5989320" y="196138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212121"/>
                </a:solidFill>
                <a:latin typeface="Arial"/>
              </a:rPr>
              <a:t>ZA (4 tiles)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7223760" y="1929384"/>
            <a:ext cx="566928" cy="237744"/>
          </a:xfrm>
          <a:prstGeom prst="rect">
            <a:avLst/>
          </a:prstGeom>
          <a:solidFill>
            <a:srgbClr val="F4F8FD"/>
          </a:solidFill>
          <a:ln w="6350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7223760" y="1961388"/>
            <a:ext cx="56692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212121"/>
                </a:solidFill>
                <a:latin typeface="Arial"/>
              </a:rPr>
              <a:t>14.7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7790688" y="1929384"/>
            <a:ext cx="566928" cy="237744"/>
          </a:xfrm>
          <a:prstGeom prst="rect">
            <a:avLst/>
          </a:prstGeom>
          <a:solidFill>
            <a:srgbClr val="F4F8FD"/>
          </a:solidFill>
          <a:ln w="6350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7790688" y="1961388"/>
            <a:ext cx="56692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212121"/>
                </a:solidFill>
                <a:latin typeface="Arial"/>
              </a:rPr>
              <a:t>4.8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8357616" y="1929384"/>
            <a:ext cx="603504" cy="237744"/>
          </a:xfrm>
          <a:prstGeom prst="rect">
            <a:avLst/>
          </a:prstGeom>
          <a:solidFill>
            <a:srgbClr val="F4F8FD"/>
          </a:solidFill>
          <a:ln w="6350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8357616" y="1961388"/>
            <a:ext cx="60350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1" i="0">
                <a:solidFill>
                  <a:srgbClr val="B3261E"/>
                </a:solidFill>
                <a:latin typeface="Arial"/>
              </a:rPr>
              <a:t>−68 %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4754880" y="2167128"/>
            <a:ext cx="123444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4754880" y="2199132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212121"/>
                </a:solidFill>
                <a:latin typeface="Arial"/>
              </a:rPr>
              <a:t>4096×64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5989320" y="2167128"/>
            <a:ext cx="123444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5989320" y="2199132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212121"/>
                </a:solidFill>
                <a:latin typeface="Arial"/>
              </a:rPr>
              <a:t>ZA (4 tiles)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7223760" y="2167128"/>
            <a:ext cx="566928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7223760" y="2199132"/>
            <a:ext cx="56692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212121"/>
                </a:solidFill>
                <a:latin typeface="Arial"/>
              </a:rPr>
              <a:t>15.0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7790688" y="2167128"/>
            <a:ext cx="566928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7790688" y="2199132"/>
            <a:ext cx="56692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212121"/>
                </a:solidFill>
                <a:latin typeface="Arial"/>
              </a:rPr>
              <a:t>5.1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8357616" y="2167128"/>
            <a:ext cx="603504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8357616" y="2199132"/>
            <a:ext cx="60350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1" i="0">
                <a:solidFill>
                  <a:srgbClr val="B3261E"/>
                </a:solidFill>
                <a:latin typeface="Arial"/>
              </a:rPr>
              <a:t>−66 %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4754880" y="2404872"/>
            <a:ext cx="1234440" cy="237744"/>
          </a:xfrm>
          <a:prstGeom prst="rect">
            <a:avLst/>
          </a:prstGeom>
          <a:solidFill>
            <a:srgbClr val="F4F8FD"/>
          </a:solidFill>
          <a:ln w="6350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4754880" y="2436876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212121"/>
                </a:solidFill>
                <a:latin typeface="Arial"/>
              </a:rPr>
              <a:t>128×2048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5989320" y="2404872"/>
            <a:ext cx="1234440" cy="237744"/>
          </a:xfrm>
          <a:prstGeom prst="rect">
            <a:avLst/>
          </a:prstGeom>
          <a:solidFill>
            <a:srgbClr val="F4F8FD"/>
          </a:solidFill>
          <a:ln w="6350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5989320" y="2436876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212121"/>
                </a:solidFill>
                <a:latin typeface="Arial"/>
              </a:rPr>
              <a:t>fallback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7223760" y="2404872"/>
            <a:ext cx="566928" cy="237744"/>
          </a:xfrm>
          <a:prstGeom prst="rect">
            <a:avLst/>
          </a:prstGeom>
          <a:solidFill>
            <a:srgbClr val="F4F8FD"/>
          </a:solidFill>
          <a:ln w="6350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7223760" y="2436876"/>
            <a:ext cx="56692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212121"/>
                </a:solidFill>
                <a:latin typeface="Arial"/>
              </a:rPr>
              <a:t>15.1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7790688" y="2404872"/>
            <a:ext cx="566928" cy="237744"/>
          </a:xfrm>
          <a:prstGeom prst="rect">
            <a:avLst/>
          </a:prstGeom>
          <a:solidFill>
            <a:srgbClr val="F4F8FD"/>
          </a:solidFill>
          <a:ln w="6350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7790688" y="2436876"/>
            <a:ext cx="56692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212121"/>
                </a:solidFill>
                <a:latin typeface="Arial"/>
              </a:rPr>
              <a:t>13.4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8357616" y="2404872"/>
            <a:ext cx="603504" cy="237744"/>
          </a:xfrm>
          <a:prstGeom prst="rect">
            <a:avLst/>
          </a:prstGeom>
          <a:solidFill>
            <a:srgbClr val="F4F8FD"/>
          </a:solidFill>
          <a:ln w="6350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8357616" y="2436876"/>
            <a:ext cx="60350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1" i="0">
                <a:solidFill>
                  <a:srgbClr val="B3261E"/>
                </a:solidFill>
                <a:latin typeface="Arial"/>
              </a:rPr>
              <a:t>−11 %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4754880" y="2642616"/>
            <a:ext cx="123444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4754880" y="2674620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212121"/>
                </a:solidFill>
                <a:latin typeface="Arial"/>
              </a:rPr>
              <a:t>1024×2048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5989320" y="2642616"/>
            <a:ext cx="123444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5989320" y="2674620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212121"/>
                </a:solidFill>
                <a:latin typeface="Arial"/>
              </a:rPr>
              <a:t>fallback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7223760" y="2642616"/>
            <a:ext cx="566928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7223760" y="2674620"/>
            <a:ext cx="56692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212121"/>
                </a:solidFill>
                <a:latin typeface="Arial"/>
              </a:rPr>
              <a:t>16.3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7790688" y="2642616"/>
            <a:ext cx="566928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7790688" y="2674620"/>
            <a:ext cx="56692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212121"/>
                </a:solidFill>
                <a:latin typeface="Arial"/>
              </a:rPr>
              <a:t>14.3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8357616" y="2642616"/>
            <a:ext cx="603504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8357616" y="2674620"/>
            <a:ext cx="60350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1" i="0">
                <a:solidFill>
                  <a:srgbClr val="B3261E"/>
                </a:solidFill>
                <a:latin typeface="Arial"/>
              </a:rPr>
              <a:t>−12 %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457200" y="3273552"/>
            <a:ext cx="8229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1">
                <a:solidFill>
                  <a:srgbClr val="595959"/>
                </a:solidFill>
                <a:latin typeface="Arial"/>
              </a:rPr>
              <a:t>Fallback = each ZA kernel’s own streaming path (no ZA) for N &gt; 4·SVL — plain single-block passes without V6’s contiguity grouping/ILP; it exists for correctness on every shape, not to compete.</a:t>
            </a:r>
          </a:p>
        </p:txBody>
      </p:sp>
      <p:pic>
        <p:nvPicPr>
          <p:cNvPr id="148" name="Picture 147" descr="stri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088636"/>
            <a:ext cx="9144000" cy="54864"/>
          </a:xfrm>
          <a:prstGeom prst="rect">
            <a:avLst/>
          </a:prstGeom>
        </p:spPr>
      </p:pic>
      <p:sp>
        <p:nvSpPr>
          <p:cNvPr id="149" name="TextBox 148"/>
          <p:cNvSpPr txBox="1"/>
          <p:nvPr/>
        </p:nvSpPr>
        <p:spPr>
          <a:xfrm>
            <a:off x="457200" y="4832604"/>
            <a:ext cx="58521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8A8A8A"/>
                </a:solidFill>
                <a:latin typeface="Arial"/>
              </a:rPr>
              <a:t>ML Compilers Lab — MLC-Norm · FSU Jena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8366760" y="4832604"/>
            <a:ext cx="3657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Arial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46304"/>
            <a:ext cx="82296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595959"/>
                </a:solidFill>
                <a:latin typeface="Arial"/>
              </a:rPr>
              <a:t>BACKUP · WHEN DOES THE SME KERNEL WIN?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47472"/>
            <a:ext cx="82296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50" b="1" i="0">
                <a:solidFill>
                  <a:srgbClr val="002F5D"/>
                </a:solidFill>
                <a:latin typeface="Arial"/>
              </a:rPr>
              <a:t>B7 · Small shapes, fixed costs, and emission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49808"/>
            <a:ext cx="502920" cy="33020"/>
          </a:xfrm>
          <a:prstGeom prst="rect">
            <a:avLst/>
          </a:prstGeom>
          <a:solidFill>
            <a:srgbClr val="002F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896112"/>
            <a:ext cx="8229600" cy="320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150" b="1" i="0">
                <a:solidFill>
                  <a:srgbClr val="002F5D"/>
                </a:solidFill>
                <a:latin typeface="Arial"/>
              </a:rPr>
              <a:t>•  </a:t>
            </a:r>
            <a:r>
              <a:rPr sz="1150" b="0" i="0">
                <a:solidFill>
                  <a:srgbClr val="212121"/>
                </a:solidFill>
                <a:latin typeface="Arial"/>
              </a:rPr>
              <a:t>Per-call fixed cost is real but small: after the sysctl fix, the linear fit’s intercept is within noise of zero (≲ 0.4 µs); throughput is flat ≈ 29 GiB/s from N = 32 upward at M = 128.</a:t>
            </a:r>
          </a:p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150" b="1" i="0">
                <a:solidFill>
                  <a:srgbClr val="002F5D"/>
                </a:solidFill>
                <a:latin typeface="Arial"/>
              </a:rPr>
              <a:t>•  </a:t>
            </a:r>
            <a:r>
              <a:rPr sz="1150" b="0" i="0">
                <a:solidFill>
                  <a:srgbClr val="212121"/>
                </a:solidFill>
                <a:latin typeface="Arial"/>
              </a:rPr>
              <a:t>The whole norm runs inside one streaming region — SMSTART/SMSTOP are never toggled per row; the small-N regime is measured and reported, not hidden.</a:t>
            </a:r>
          </a:p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150" b="1" i="0">
                <a:solidFill>
                  <a:srgbClr val="002F5D"/>
                </a:solidFill>
                <a:latin typeface="Arial"/>
              </a:rPr>
              <a:t>•  </a:t>
            </a:r>
            <a:r>
              <a:rPr sz="1150" b="0" i="0">
                <a:solidFill>
                  <a:srgbClr val="212121"/>
                </a:solidFill>
                <a:latin typeface="Arial"/>
              </a:rPr>
              <a:t>JIT emission is one-time: ~4.7 µs (RMS, 143 words) / ~4.8 µs (LN, 194 words) vs 0.4–135 µs per kernel call — amortized after a handful of calls; the pointer is reused thereafter.</a:t>
            </a:r>
          </a:p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150" b="1" i="0">
                <a:solidFill>
                  <a:srgbClr val="002F5D"/>
                </a:solidFill>
                <a:latin typeface="Arial"/>
              </a:rPr>
              <a:t>•  </a:t>
            </a:r>
            <a:r>
              <a:rPr sz="1150" b="0" i="0">
                <a:solidFill>
                  <a:srgbClr val="212121"/>
                </a:solidFill>
                <a:latin typeface="Arial"/>
              </a:rPr>
              <a:t>Deeper / parameterized contiguity-group depth stays a shape-specialized emission decision — deferred to the Sprint-6 optimization backlog.</a:t>
            </a:r>
          </a:p>
        </p:txBody>
      </p:sp>
      <p:pic>
        <p:nvPicPr>
          <p:cNvPr id="6" name="Picture 5" descr="stri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088636"/>
            <a:ext cx="9144000" cy="5486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32604"/>
            <a:ext cx="58521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8A8A8A"/>
                </a:solidFill>
                <a:latin typeface="Arial"/>
              </a:rPr>
              <a:t>ML Compilers Lab — MLC-Norm · FSU Jena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66760" y="4832604"/>
            <a:ext cx="3657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Arial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46304"/>
            <a:ext cx="82296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595959"/>
                </a:solidFill>
                <a:latin typeface="Arial"/>
              </a:rPr>
              <a:t>BACKUP · ALL CLAIMS CHECKED AGAINST THE CODE, JUNE–JULY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47472"/>
            <a:ext cx="82296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50" b="1" i="0">
                <a:solidFill>
                  <a:srgbClr val="002F5D"/>
                </a:solidFill>
                <a:latin typeface="Arial"/>
              </a:rPr>
              <a:t>B8 · Sources for the state-of-practice survey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49808"/>
            <a:ext cx="502920" cy="33020"/>
          </a:xfrm>
          <a:prstGeom prst="rect">
            <a:avLst/>
          </a:prstGeom>
          <a:solidFill>
            <a:srgbClr val="002F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822960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002F5D"/>
                </a:solidFill>
                <a:latin typeface="Arial"/>
              </a:rPr>
              <a:t>PyTorch (ATen CPU)   </a:t>
            </a:r>
            <a:r>
              <a:rPr sz="950" b="0" i="0">
                <a:solidFill>
                  <a:srgbClr val="595959"/>
                </a:solidFill>
                <a:latin typeface="Consolas"/>
              </a:rPr>
              <a:t>github.com/pytorch/pytorch — aten/src/ATen/native/cpu/layer_norm_kernel.cpp; moments_utils.h (RowwiseMoments: “Welford algorithm + cascade sum”, kChunkSize = 16)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822960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002F5D"/>
                </a:solidFill>
                <a:latin typeface="Arial"/>
              </a:rPr>
              <a:t>llama.cpp / GGML   </a:t>
            </a:r>
            <a:r>
              <a:rPr sz="950" b="0" i="0">
                <a:solidFill>
                  <a:srgbClr val="595959"/>
                </a:solidFill>
                <a:latin typeface="Consolas"/>
              </a:rPr>
              <a:t>github.com/ggml-org/llama.cpp — ggml/src/ggml-cpu/ops.cpp (ggml_compute_forward_rms_norm_f32: scalar loop, ggml_float accumulator, fused MUL variant); vec.h (GGML_F32_ARR, SVE svwhilelt)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920240"/>
            <a:ext cx="822960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002F5D"/>
                </a:solidFill>
                <a:latin typeface="Arial"/>
              </a:rPr>
              <a:t>ExecuTorch   </a:t>
            </a:r>
            <a:r>
              <a:rPr sz="950" b="0" i="0">
                <a:solidFill>
                  <a:srgbClr val="595959"/>
                </a:solidFill>
                <a:latin typeface="Consolas"/>
              </a:rPr>
              <a:t>github.com/pytorch/executorch — kernels/optimized/cpu/op_native_layer_norm.cpp (RowwiseMoments; scalar fallback N &lt; 256)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423160"/>
            <a:ext cx="822960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002F5D"/>
                </a:solidFill>
                <a:latin typeface="Arial"/>
              </a:rPr>
              <a:t>Arm KleidiAI   </a:t>
            </a:r>
            <a:r>
              <a:rPr sz="950" b="0" i="0">
                <a:solidFill>
                  <a:srgbClr val="595959"/>
                </a:solidFill>
                <a:latin typeface="Consolas"/>
              </a:rPr>
              <a:t>github.com/ARM-software/kleidiai — kai/ukernels/{matmul, dwconv}; SME2 matmul micro-kernels (…_sme2_mopa), no normalization kernel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926080"/>
            <a:ext cx="822960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002F5D"/>
                </a:solidFill>
                <a:latin typeface="Arial"/>
              </a:rPr>
              <a:t>Papers   </a:t>
            </a:r>
            <a:r>
              <a:rPr sz="950" b="0" i="0">
                <a:solidFill>
                  <a:srgbClr val="595959"/>
                </a:solidFill>
                <a:latin typeface="Consolas"/>
              </a:rPr>
              <a:t>LayerNorm: Ba, Kiros &amp; Hinton 2016, arXiv:1607.06450 · RMSNorm: Zhang &amp; Sennrich, NeurIPS 2019, arXiv:1910.07467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429000"/>
            <a:ext cx="822960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002F5D"/>
                </a:solidFill>
                <a:latin typeface="Arial"/>
              </a:rPr>
              <a:t>Hardware ground truth   </a:t>
            </a:r>
            <a:r>
              <a:rPr sz="950" b="0" i="0">
                <a:solidFill>
                  <a:srgbClr val="595959"/>
                </a:solidFill>
                <a:latin typeface="Consolas"/>
              </a:rPr>
              <a:t>Arm Architecture Reference Manual (SME/SSVE) · Apple M4 = SME1, SVL 512 bit · all bandwidth figures measured on our M4 with the repo harness</a:t>
            </a:r>
          </a:p>
        </p:txBody>
      </p:sp>
      <p:pic>
        <p:nvPicPr>
          <p:cNvPr id="11" name="Picture 10" descr="stri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088636"/>
            <a:ext cx="9144000" cy="5486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57200" y="4832604"/>
            <a:ext cx="58521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8A8A8A"/>
                </a:solidFill>
                <a:latin typeface="Arial"/>
              </a:rPr>
              <a:t>ML Compilers Lab — MLC-Norm · FSU Jena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66760" y="4832604"/>
            <a:ext cx="3657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Arial"/>
              </a:rPr>
              <a:t>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