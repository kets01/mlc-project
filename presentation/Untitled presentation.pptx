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BACAB5-9271-4868-8B0E-A00632A2967E}">
  <a:tblStyle styleId="{B5BACAB5-9271-4868-8B0E-A00632A296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685f6644_4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4685f6644_4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Opening slide. Project platform: Apple M4 (AArch64, NEON, SSVE, SME). We implement LayerNorm and RMSNorm as SSVE unary primitives with JIT code generation and TEIR integration.</a:t>
            </a:r>
            <a:endParaRPr/>
          </a:p>
        </p:txBody>
      </p:sp>
      <p:sp>
        <p:nvSpPr>
          <p:cNvPr id="55" name="Google Shape;55;g3f4685f6644_4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685f6644_4_1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 slide: don't re-present the proposal. Three of four deliverables are done and verified; TEIR is deliberately the outlook. Every kernel was verified against the C++ reference before any benchmark number was trusted.</a:t>
            </a:r>
            <a:endParaRPr/>
          </a:p>
        </p:txBody>
      </p:sp>
      <p:sp>
        <p:nvSpPr>
          <p:cNvPr id="66" name="Google Shape;66;g3f4685f6644_4_14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4685f6644_4_4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V1–V6 as industry-standard technique families, isolated and measured one at a time. BEFORE THE TALK: pin each library attribution to a concrete source file (e.g. GGML ggml-cpu reduction loops, KleidiAI SME micro-kernels) in case an examiner asks 'where exactly?'.</a:t>
            </a:r>
            <a:endParaRPr/>
          </a:p>
        </p:txBody>
      </p:sp>
      <p:sp>
        <p:nvSpPr>
          <p:cNvPr id="85" name="Google Shape;85;g3f4685f6644_4_4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4685f6644_4_5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Pre-registering the ZA hypothesis here is what makes the negative verdict on slide 8 a result instead of a failure. SVL is queried at runtime — the 16 comes from the M4's 512-bit SVL, it is never hard-coded.</a:t>
            </a:r>
            <a:endParaRPr/>
          </a:p>
        </p:txBody>
      </p:sp>
      <p:sp>
        <p:nvSpPr>
          <p:cNvPr id="98" name="Google Shape;98;g3f4685f6644_4_54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685f6644_4_6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change per version keeps every effect attributable. V6 is deliberately NOT called cache blocking: our own measurement showed pass-2 residency was already satisfied; the real lever is DRAM access density/contiguity.</a:t>
            </a:r>
            <a:endParaRPr/>
          </a:p>
        </p:txBody>
      </p:sp>
      <p:sp>
        <p:nvSpPr>
          <p:cNvPr id="112" name="Google Shape;112;g3f4685f6644_4_6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4685f6644_4_7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Walk the two panels: (1) blue lines — four consecutive LD1W = 256 B contiguous per column touch, 4x denser DRAM access; (2) orange lines — four independent FMLA accumulators break the serial dependency chain (this alone was +27-32%, and explains why V3's unrolling did nothing). One accumulator per row-block also keeps reference summation order — no relaxed tolerance needed.</a:t>
            </a:r>
            <a:endParaRPr/>
          </a:p>
        </p:txBody>
      </p:sp>
      <p:sp>
        <p:nvSpPr>
          <p:cNvPr id="123" name="Google Shape;123;g3f4685f6644_4_79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4685f6644_4_9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Punchline: the 'clever' single-sweep algorithm loses BOTH axes. Speed: the per-column 1/count recurrence serialises on SIMD (a scalar FDIV every column). Accuracy: FP32 Welford rounds the running mean at input magnitude on every element; two-pass squares small centered values. Bottom strip: the structural 3R+1W vs 2R+1W explains why LLaMA-class models picked RMSNorm.</a:t>
            </a:r>
            <a:endParaRPr/>
          </a:p>
        </p:txBody>
      </p:sp>
      <p:sp>
        <p:nvSpPr>
          <p:cNvPr id="140" name="Google Shape;140;g3f4685f6644_4_9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4685f6644_4_10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by color: green = kept, gray = no effect (explained), red = rejected. Two teaching points: (1) V2 flips between kernels — verdicts do not transfer, you re-measure; (2) the ZA row is the pre-registered hypothesis from slide 4, measured: staging through the tile (2-3 MOVA per element) costs more than the DRAM reads it saves.</a:t>
            </a:r>
            <a:endParaRPr/>
          </a:p>
        </p:txBody>
      </p:sp>
      <p:sp>
        <p:nvSpPr>
          <p:cNvPr id="152" name="Google Shape;152;g3f4685f6644_4_10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685f6644_4_11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contribution. Trust by construction: instead of re-proving the generated kernel, we diff its instruction words against the hand-written winner that already passed the full suite — word-identical means it inherits that trust. The golden-word unit tests also exposed two latent bugs in the lab's week-6 encoders.</a:t>
            </a:r>
            <a:endParaRPr/>
          </a:p>
        </p:txBody>
      </p:sp>
      <p:sp>
        <p:nvSpPr>
          <p:cNvPr id="164" name="Google Shape;164;g3f4685f6644_4_117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4685f6644_4_13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percentages are of the SINGLE-CORE STREAMING ceiling (59.5 GiB/s) — the mode our kernels execute in; we measured it ourselves with a streaming-mode probe. If asked 'why not NEON?': SSVE is the subject of the project, gives 4x wider VLA vectors and is the entry ticket to ZA; the threaded end state targets the chip-wide ceiling where the per-core mode difference washes out. Chart shape: 64 MB working set = true-DRAM regime; at L2-resident shapes V6 reaches ~95 % of the ceiling in moved bytes.</a:t>
            </a:r>
            <a:endParaRPr/>
          </a:p>
        </p:txBody>
      </p:sp>
      <p:sp>
        <p:nvSpPr>
          <p:cNvPr id="183" name="Google Shape;183;g3f4685f6644_4_13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4685f6644_4_14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15-second extra story if time allows: our test discipline also caught an eps register-stash bug in 13 of 15 kernels — eps was silently lost across smstart, invisible under every tolerance, NaN on all-zero rows. Fixed everywhere + 2 regression tests. Best concrete evidence for 'measure, don't assume'.</a:t>
            </a:r>
            <a:endParaRPr/>
          </a:p>
        </p:txBody>
      </p:sp>
      <p:sp>
        <p:nvSpPr>
          <p:cNvPr id="195" name="Google Shape;195;g3f4685f6644_4_14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4685f6644_4_16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framing: without TEIR these are optimised standalone kernels; with TEIR the compiler places the norm inside real model graphs. Threading across tiles (is_parallel on the row axis) then targets the 89.8 GiB/s chip-wide ceiling — one core already sustains ~66 % of it, so expect ≤1.5×, measured honestly.</a:t>
            </a:r>
            <a:endParaRPr/>
          </a:p>
        </p:txBody>
      </p:sp>
      <p:sp>
        <p:nvSpPr>
          <p:cNvPr id="212" name="Google Shape;212;g3f4685f6644_4_16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466344" y="2478024"/>
            <a:ext cx="4389120" cy="1563624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FFFF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94360" y="2578608"/>
            <a:ext cx="256032" cy="64008"/>
          </a:xfrm>
          <a:prstGeom prst="rect">
            <a:avLst/>
          </a:prstGeom>
          <a:solidFill>
            <a:srgbClr val="002F5D"/>
          </a:solidFill>
          <a:ln cap="flat" cmpd="sng" w="12700">
            <a:solidFill>
              <a:srgbClr val="002F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94360" y="26517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F5D"/>
              </a:buClr>
              <a:buSzPts val="2000"/>
              <a:buFont typeface="Calibri"/>
              <a:buNone/>
            </a:pPr>
            <a:r>
              <a:rPr lang="en" sz="20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LayerNorm &amp; RMSNorm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94360" y="3543749"/>
            <a:ext cx="4114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F5D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Optimised SSVE/SME Primitives</a:t>
            </a:r>
            <a:br>
              <a:rPr lang="en" sz="14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>
                <a:solidFill>
                  <a:srgbClr val="002350"/>
                </a:solidFill>
                <a:latin typeface="Calibri"/>
                <a:ea typeface="Calibri"/>
                <a:cs typeface="Calibri"/>
                <a:sym typeface="Calibri"/>
              </a:rPr>
              <a:t>on Apple M4 —ML Compilers Lab</a:t>
            </a:r>
            <a:br>
              <a:rPr lang="en" sz="1400">
                <a:solidFill>
                  <a:srgbClr val="00235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1400">
                <a:solidFill>
                  <a:srgbClr val="0023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>
                <a:solidFill>
                  <a:srgbClr val="002350"/>
                </a:solidFill>
                <a:latin typeface="Calibri"/>
                <a:ea typeface="Calibri"/>
                <a:cs typeface="Calibri"/>
                <a:sym typeface="Calibri"/>
              </a:rPr>
              <a:t>Ketsia Kemkuini</a:t>
            </a:r>
            <a:endParaRPr sz="1400">
              <a:solidFill>
                <a:srgbClr val="0023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2350"/>
                </a:solidFill>
                <a:latin typeface="Calibri"/>
                <a:ea typeface="Calibri"/>
                <a:cs typeface="Calibri"/>
                <a:sym typeface="Calibri"/>
              </a:rPr>
              <a:t>Mariza Sitcheu</a:t>
            </a:r>
            <a:endParaRPr sz="1400">
              <a:solidFill>
                <a:srgbClr val="0023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023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F5D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0023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From Proposal to Results</a:t>
            </a:r>
            <a:endParaRPr/>
          </a:p>
        </p:txBody>
      </p:sp>
      <p:pic>
        <p:nvPicPr>
          <p:cNvPr descr="imag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2999232" y="4718304"/>
            <a:ext cx="568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821950" y="1020200"/>
            <a:ext cx="3500100" cy="4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C++ reference, roofline</a:t>
            </a:r>
            <a:endParaRPr sz="1500"/>
          </a:p>
        </p:txBody>
      </p:sp>
      <p:sp>
        <p:nvSpPr>
          <p:cNvPr id="75" name="Google Shape;75;p16"/>
          <p:cNvSpPr txBox="1"/>
          <p:nvPr/>
        </p:nvSpPr>
        <p:spPr>
          <a:xfrm>
            <a:off x="4471950" y="1395200"/>
            <a:ext cx="30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821950" y="1645200"/>
            <a:ext cx="3500100" cy="4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SSVE kernels </a:t>
            </a:r>
            <a:endParaRPr sz="1500"/>
          </a:p>
        </p:txBody>
      </p:sp>
      <p:sp>
        <p:nvSpPr>
          <p:cNvPr id="77" name="Google Shape;77;p16"/>
          <p:cNvSpPr txBox="1"/>
          <p:nvPr/>
        </p:nvSpPr>
        <p:spPr>
          <a:xfrm>
            <a:off x="4471950" y="2020200"/>
            <a:ext cx="30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821950" y="2270200"/>
            <a:ext cx="3500100" cy="4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SME / ZA kernel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4471950" y="2645200"/>
            <a:ext cx="30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821950" y="2895200"/>
            <a:ext cx="3500100" cy="4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JIT code generation</a:t>
            </a: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471950" y="3270200"/>
            <a:ext cx="300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2821950" y="3520200"/>
            <a:ext cx="3500100" cy="4800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2F5D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Next: TEIR + threading</a:t>
            </a: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What Do Optimised ML Libraries Actually Do?</a:t>
            </a:r>
            <a:endParaRPr/>
          </a:p>
        </p:txBody>
      </p:sp>
      <p:pic>
        <p:nvPicPr>
          <p:cNvPr descr="image.png"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66344" y="987552"/>
            <a:ext cx="821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Modern inference libraries share a small set of optimisation families — we isolated and measured each one.</a:t>
            </a:r>
            <a:endParaRPr/>
          </a:p>
        </p:txBody>
      </p:sp>
      <p:graphicFrame>
        <p:nvGraphicFramePr>
          <p:cNvPr id="94" name="Google Shape;94;p17"/>
          <p:cNvGraphicFramePr/>
          <p:nvPr/>
        </p:nvGraphicFramePr>
        <p:xfrm>
          <a:off x="466344" y="14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{B5BACAB5-9271-4868-8B0E-A00632A2967E}</a:tableStyleId>
              </a:tblPr>
              <a:tblGrid>
                <a:gridCol w="2400000"/>
                <a:gridCol w="58120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Library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Optimisation families found there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(ATen CPU)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vectorised norm kernels · fast inverse-sqrt paths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GGML / llama.cpp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multi-accumulator SIMD reductions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Arm KleidiAI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SME micro-kernels · blocking for access density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ExecuTorch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SIMD normalisation kernels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7"/>
          <p:cNvSpPr/>
          <p:nvPr/>
        </p:nvSpPr>
        <p:spPr>
          <a:xfrm>
            <a:off x="466344" y="3600000"/>
            <a:ext cx="8212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Our V1–V6 variants isolate these families one at a time — </a:t>
            </a:r>
            <a:r>
              <a:rPr b="0" i="0" lang="en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each verified against the reference, then measured against a measured ceiling.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Why SSVE and SME? Matching Tools to the Work</a:t>
            </a:r>
            <a:endParaRPr/>
          </a:p>
        </p:txBody>
      </p:sp>
      <p:pic>
        <p:nvPicPr>
          <p:cNvPr descr="image.png"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466344" y="1000000"/>
            <a:ext cx="3980000" cy="22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46344" y="1140000"/>
            <a:ext cx="362000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Reductions &amp; elementwise work → SSVE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per-row statistic and the normalise pass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predicated, vector-length-agnostic loops — any SVL, tails without branches (WHILELO)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vector FMLA reductions in Z-registers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runs for every element → dominates the bandwidth number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4700000" y="1000000"/>
            <a:ext cx="3980000" cy="228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880000" y="1140000"/>
            <a:ext cx="362000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2D movement &amp; reuse → SME ZA tile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1" lang="en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when data genuinely moves as a 2D block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SVL×SVL FP32 tile = extra on-core storage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tile load/store &amp; slice moves (MOVA)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candidate lever: keep x resident between passes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Kernel Evolution — One Optimisation Family per Version</a:t>
            </a:r>
            <a:endParaRPr/>
          </a:p>
        </p:txBody>
      </p:sp>
      <p:pic>
        <p:nvPicPr>
          <p:cNvPr descr="image.png"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graphicFrame>
        <p:nvGraphicFramePr>
          <p:cNvPr id="120" name="Google Shape;120;p19"/>
          <p:cNvGraphicFramePr/>
          <p:nvPr/>
        </p:nvGraphicFramePr>
        <p:xfrm>
          <a:off x="466344" y="9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{B5BACAB5-9271-4868-8B0E-A00632A2967E}</a:tableStyleId>
              </a:tblPr>
              <a:tblGrid>
                <a:gridCol w="950000"/>
                <a:gridCol w="4300000"/>
                <a:gridCol w="2962000"/>
              </a:tblGrid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one change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Inspired by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vectorised SSVE baseline, VLA, predicated tails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starting point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FRSQRTE + Newton step for 1/√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fast-math practice (PyTorch-style)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hoist loop-invariant 1/N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 compiler optimisation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2× column-loop unrolling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SIMD practice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independent FMLA accumulator chains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GGML / BLIS-style reductions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V5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software-pipelined load groups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hand-tuned Arm kernels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V6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4-row-block contiguity grouping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DRAM access density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ZA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SVL×SVL tile staging / pass fusion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SME's headline feature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The Decisive Change: V0 → V6 (RMSNorm reduction loop)</a:t>
            </a:r>
            <a:endParaRPr/>
          </a:p>
        </p:txBody>
      </p:sp>
      <p:pic>
        <p:nvPicPr>
          <p:cNvPr descr="image.png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466344" y="990000"/>
            <a:ext cx="3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V0 — one column touch, one chain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466344" y="1270000"/>
            <a:ext cx="3620000" cy="24400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96344" y="1390000"/>
            <a:ext cx="33600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.Lred_col_loop:                 ; per column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1C5CAB"/>
                </a:solidFill>
                <a:latin typeface="Consolas"/>
                <a:ea typeface="Consolas"/>
                <a:cs typeface="Consolas"/>
                <a:sym typeface="Consolas"/>
              </a:rPr>
              <a:t>  ld1w  {z0.s}, p1/z, [x8]      ; ONE load → 64 B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C5500F"/>
                </a:solidFill>
                <a:latin typeface="Consolas"/>
                <a:ea typeface="Consolas"/>
                <a:cs typeface="Consolas"/>
                <a:sym typeface="Consolas"/>
              </a:rPr>
              <a:t>  fmla  z2.s, p1/m, z0.s, z0.s  ; ONE accumulator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add   x8, x8, x24             ; next column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subs  x9, x9, #1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b.ne  .Lred_col_loop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290000" y="990000"/>
            <a:ext cx="439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V6 — four blocks per touch, four chains</a:t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290000" y="1270000"/>
            <a:ext cx="4390000" cy="2440000"/>
          </a:xfrm>
          <a:prstGeom prst="rect">
            <a:avLst/>
          </a:prstGeom>
          <a:solidFill>
            <a:srgbClr val="F4F4F4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420000" y="1390000"/>
            <a:ext cx="41300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.Lred_col_v6:                        ; per column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1C5CAB"/>
                </a:solidFill>
                <a:latin typeface="Consolas"/>
                <a:ea typeface="Consolas"/>
                <a:cs typeface="Consolas"/>
                <a:sym typeface="Consolas"/>
              </a:rPr>
              <a:t>  ld1w {z0.s},  p0/z, [x8]             ; FOUR loads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1C5CAB"/>
                </a:solidFill>
                <a:latin typeface="Consolas"/>
                <a:ea typeface="Consolas"/>
                <a:cs typeface="Consolas"/>
                <a:sym typeface="Consolas"/>
              </a:rPr>
              <a:t>  ld1w {z24.s}, p0/z, [x8, #1, mul vl] ; = 256 B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1C5CAB"/>
                </a:solidFill>
                <a:latin typeface="Consolas"/>
                <a:ea typeface="Consolas"/>
                <a:cs typeface="Consolas"/>
                <a:sym typeface="Consolas"/>
              </a:rPr>
              <a:t>  ld1w {z25.s}, p0/z, [x8, #2, mul vl] ;   contiguous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1C5CAB"/>
                </a:solidFill>
                <a:latin typeface="Consolas"/>
                <a:ea typeface="Consolas"/>
                <a:cs typeface="Consolas"/>
                <a:sym typeface="Consolas"/>
              </a:rPr>
              <a:t>  ld1w {z26.s}, p0/z, [x8, #3, mul vl]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C5500F"/>
                </a:solidFill>
                <a:latin typeface="Consolas"/>
                <a:ea typeface="Consolas"/>
                <a:cs typeface="Consolas"/>
                <a:sym typeface="Consolas"/>
              </a:rPr>
              <a:t>  fmla z2.s,  p0/m, z0.s,  z0.s        ; FOUR indep.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C5500F"/>
                </a:solidFill>
                <a:latin typeface="Consolas"/>
                <a:ea typeface="Consolas"/>
                <a:cs typeface="Consolas"/>
                <a:sym typeface="Consolas"/>
              </a:rPr>
              <a:t>  fmla z16.s, p0/m, z24.s, z24.s       ;   accumulator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C5500F"/>
                </a:solidFill>
                <a:latin typeface="Consolas"/>
                <a:ea typeface="Consolas"/>
                <a:cs typeface="Consolas"/>
                <a:sym typeface="Consolas"/>
              </a:rPr>
              <a:t>  fmla z17.s, p0/m, z25.s, z25.s       ;   chains (ILP)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C5500F"/>
                </a:solidFill>
                <a:latin typeface="Consolas"/>
                <a:ea typeface="Consolas"/>
                <a:cs typeface="Consolas"/>
                <a:sym typeface="Consolas"/>
              </a:rPr>
              <a:t>  fmla z18.s, p0/m, z26.s, z26.s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add  x8, x8, x24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subs x9, x9, #1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262626"/>
                </a:solidFill>
                <a:latin typeface="Consolas"/>
                <a:ea typeface="Consolas"/>
                <a:cs typeface="Consolas"/>
                <a:sym typeface="Consolas"/>
              </a:rPr>
              <a:t>  b.ne .Lred_col_v6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466344" y="3880000"/>
            <a:ext cx="8212000" cy="50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+131 % in the DRAM regime (11.1 → 25.6 GiB/s) — </a:t>
            </a:r>
            <a:r>
              <a:rPr b="0" i="0" lang="en" sz="11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same math, not one extra FLOP.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LayerNorm: Two-Pass vs Welford — and vs RMSNorm</a:t>
            </a:r>
            <a:endParaRPr/>
          </a:p>
        </p:txBody>
      </p:sp>
      <p:pic>
        <p:nvPicPr>
          <p:cNvPr descr="image.png" id="144" name="Google Shape;1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148" name="Google Shape;148;p21"/>
          <p:cNvGraphicFramePr/>
          <p:nvPr/>
        </p:nvGraphicFramePr>
        <p:xfrm>
          <a:off x="466344" y="10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{B5BACAB5-9271-4868-8B0E-A00632A2967E}</a:tableStyleId>
              </a:tblPr>
              <a:tblGrid>
                <a:gridCol w="2250000"/>
                <a:gridCol w="2500000"/>
                <a:gridCol w="3462000"/>
              </a:tblGrid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Two-pass (ours)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Welford single sweep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 traffic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 + 1W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2R + 1W  (−25 %)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 on M4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faster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25–30 % slower — serial 1/count recurrence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FP32 accuracy (shift 10⁴)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err 1.2e-5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1.2e-3  (≈100× worse)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wins both axes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fewer bytes ≠ faster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21"/>
          <p:cNvSpPr/>
          <p:nvPr/>
        </p:nvSpPr>
        <p:spPr>
          <a:xfrm>
            <a:off x="466344" y="3480000"/>
            <a:ext cx="8212000" cy="70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Structural gap, measured on the same harness:  </a:t>
            </a:r>
            <a:r>
              <a:rPr b="0" i="0" lang="en" sz="10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LayerNorm needs 3R+1W per element, RMSNorm 2R+1W → RMSNorm is 1.8–2.3× faster — well beyond the literature's 10–40 %.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Which Optimisations Mattered — and Which Didn't</a:t>
            </a:r>
            <a:endParaRPr/>
          </a:p>
        </p:txBody>
      </p:sp>
      <p:pic>
        <p:nvPicPr>
          <p:cNvPr descr="image.png"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graphicFrame>
        <p:nvGraphicFramePr>
          <p:cNvPr id="160" name="Google Shape;160;p22"/>
          <p:cNvGraphicFramePr/>
          <p:nvPr/>
        </p:nvGraphicFramePr>
        <p:xfrm>
          <a:off x="466344" y="9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{B5BACAB5-9271-4868-8B0E-A00632A2967E}</a:tableStyleId>
              </a:tblPr>
              <a:tblGrid>
                <a:gridCol w="2300000"/>
                <a:gridCol w="1200000"/>
                <a:gridCol w="1200000"/>
                <a:gridCol w="3512000"/>
              </a:tblGrid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Optimisation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RMSNorm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LayerNorm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002F5D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  fast 1/√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+6.5 %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 only on RMSNorm's critical path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  hoist 1/N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+9–12 %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LayerNorm has two per-block divides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  unrolling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OOO core + prefetcher already cover it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  multi-accumulator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+27–32 %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+26–28 %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breaks the serial FMLA chain (ILP)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V5  load pipelining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0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OOO rename already hoists loads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V6  contiguity grouping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+131 %*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8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+71 %*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4× denser DRAM access   (*DRAM regime, vs V0)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002F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ZA  tile staging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−39–65 %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95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−51–68 %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MOVA traffic &gt; DRAM bytes saved</a:t>
                      </a:r>
                      <a:endParaRPr/>
                    </a:p>
                  </a:txBody>
                  <a:tcPr marT="18300" marB="18300" marR="36575" marL="54875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2"/>
          <p:cNvSpPr txBox="1"/>
          <p:nvPr/>
        </p:nvSpPr>
        <p:spPr>
          <a:xfrm>
            <a:off x="466344" y="4020000"/>
            <a:ext cx="821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Verdicts do not transfer between kernels — every lever was re-measured per norm.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From Hand-Written to Generated: mini_jit::Norm</a:t>
            </a:r>
            <a:endParaRPr/>
          </a:p>
        </p:txBody>
      </p:sp>
      <p:pic>
        <p:nvPicPr>
          <p:cNvPr descr="image.png"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466344" y="1050000"/>
            <a:ext cx="375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onsolas"/>
                <a:ea typeface="Consolas"/>
                <a:cs typeface="Consolas"/>
                <a:sym typeface="Consolas"/>
              </a:rPr>
              <a:t>Norm::generate(ntype)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parameterised on the norm type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2200000" y="152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466344" y="1740000"/>
            <a:ext cx="375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onsolas"/>
                <a:ea typeface="Consolas"/>
                <a:cs typeface="Consolas"/>
                <a:sym typeface="Consolas"/>
              </a:rPr>
              <a:t>instruction words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InstGen — 30 new encoders, each unit-tested vs Arm ARM</a:t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2200000" y="221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466344" y="2430000"/>
            <a:ext cx="375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executable buffer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one streaming region, W^X respected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2200000" y="2900000"/>
            <a:ext cx="3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466344" y="3120000"/>
            <a:ext cx="375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function pointer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emitted once (~4.7 µs), reused every call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4560000" y="1050000"/>
            <a:ext cx="4120000" cy="2960000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4740000" y="1180000"/>
            <a:ext cx="37600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Trust by construction — the encoding diff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generated buffer is compared word-by-word against the proven hand-written kernel: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8300"/>
                </a:solidFill>
                <a:latin typeface="Consolas"/>
                <a:ea typeface="Consolas"/>
                <a:cs typeface="Consolas"/>
                <a:sym typeface="Consolas"/>
              </a:rPr>
              <a:t>RMSNorm   143 / 143 words identical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8300"/>
                </a:solidFill>
                <a:latin typeface="Consolas"/>
                <a:ea typeface="Consolas"/>
                <a:cs typeface="Consolas"/>
                <a:sym typeface="Consolas"/>
              </a:rPr>
              <a:t>LayerNorm 194 / 194 words identical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→ the JIT inherits the verified kernels' correctness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runtime parity with hand-written: within 0.6 %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•  ZA path deliberately not emitted — it never earned its row (slide 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•  found along the way: 2 latent week-6 encoder bugs + a per-call sysctl in the bench harness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Performance Against the Machine's Measured Ceilings</a:t>
            </a:r>
            <a:endParaRPr/>
          </a:p>
        </p:txBody>
      </p:sp>
      <p:pic>
        <p:nvPicPr>
          <p:cNvPr descr="image.png" id="187" name="Google Shape;1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pic>
        <p:nvPicPr>
          <p:cNvPr descr="chart_ceilings.png" id="191" name="Google Shape;1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00" y="1000000"/>
            <a:ext cx="4900000" cy="31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 txBox="1"/>
          <p:nvPr/>
        </p:nvSpPr>
        <p:spPr>
          <a:xfrm>
            <a:off x="5560000" y="1060000"/>
            <a:ext cx="3160000" cy="3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Ceilings measured on our M4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59.5 GiB/s</a:t>
            </a: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single-core, streaming mode — the mode our kernels run in (kernel target)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89.8 GiB/s</a:t>
            </a: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chip-wide, 10 threads — the threading target (outlook)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Chart: 64 MB working set — the true-DRAM regime.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At L2-resident shapes, RMSNorm V6 reaches ~95 % of the ceiling in moved bytes.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JIT kernels = V6 within 0.6 % (word-identical code).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Main Lessons</a:t>
            </a:r>
            <a:endParaRPr/>
          </a:p>
        </p:txBody>
      </p:sp>
      <p:pic>
        <p:nvPicPr>
          <p:cNvPr descr="image.png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466344" y="1150000"/>
            <a:ext cx="2670000" cy="215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626344" y="1300000"/>
            <a:ext cx="2350000" cy="1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86B6E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Break dependency chains before tuning arithmetic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4 independent accumulators: +27–32 %.  All arithmetic tweaks together: ≤ +6.5 %.</a:t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3237344" y="1150000"/>
            <a:ext cx="2670000" cy="215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3397344" y="1300000"/>
            <a:ext cx="2350000" cy="1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86B6E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Shape memory access for DRAM, not for the FLOP 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256 B-contiguous touches: +131 %.  Loop unrolling: 0 %.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6008344" y="1150000"/>
            <a:ext cx="2670000" cy="215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6168344" y="1300000"/>
            <a:ext cx="2350000" cy="1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86B6E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Newer silicon is not automatically faster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9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ZA staging lost 39–68 % — hypothesis pre-registered, measured, explained.</a:t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466344" y="3600000"/>
            <a:ext cx="8212000" cy="560000"/>
          </a:xfrm>
          <a:prstGeom prst="roundRect">
            <a:avLst>
              <a:gd fmla="val 16667" name="adj"/>
            </a:avLst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Measure, don't assume — every verdict re-measured per kernel, every kernel verified before it was benchmarked.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466344" y="329184"/>
            <a:ext cx="256032" cy="54864"/>
          </a:xfrm>
          <a:prstGeom prst="rect">
            <a:avLst/>
          </a:prstGeom>
          <a:solidFill>
            <a:srgbClr val="002F5D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466344" y="4023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Outlook: From Kernels to Compiler Building Blocks</a:t>
            </a:r>
            <a:endParaRPr/>
          </a:p>
        </p:txBody>
      </p:sp>
      <p:pic>
        <p:nvPicPr>
          <p:cNvPr descr="image.png" id="216" name="Google Shape;2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9762"/>
            <a:ext cx="9144000" cy="39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590288"/>
            <a:ext cx="126187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/>
        </p:nvSpPr>
        <p:spPr>
          <a:xfrm>
            <a:off x="2999232" y="4718304"/>
            <a:ext cx="568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ML Compilers Lab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2999232" y="4882896"/>
            <a:ext cx="5687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466344" y="100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Done — and verified</a:t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466344" y="1330000"/>
            <a:ext cx="390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C++ reference  </a:t>
            </a:r>
            <a:r>
              <a:rPr b="0" i="0"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— the correctness oracle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466344" y="2020000"/>
            <a:ext cx="390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SSVE V6 kernels  </a:t>
            </a:r>
            <a:r>
              <a:rPr b="0" i="0"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— verified, measured vs the ceiling</a:t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466344" y="2710000"/>
            <a:ext cx="3900000" cy="5600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002F5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JIT emission  </a:t>
            </a:r>
            <a:r>
              <a:rPr b="0" i="0"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— word-identical, parity within 0.6 %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750000" y="1000000"/>
            <a:ext cx="3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4750000" y="1330000"/>
            <a:ext cx="3900000" cy="5600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2F5D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TEIR primitive  </a:t>
            </a:r>
            <a:r>
              <a:rPr b="0" i="0"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— norm registered as an Invocation the runtime places in a loop nest</a:t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4750000" y="2020000"/>
            <a:ext cx="3900000" cy="5600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02F5D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002F5D"/>
                </a:solidFill>
                <a:latin typeface="Calibri"/>
                <a:ea typeface="Calibri"/>
                <a:cs typeface="Calibri"/>
                <a:sym typeface="Calibri"/>
              </a:rPr>
              <a:t>OpenMP across tiles  </a:t>
            </a:r>
            <a:r>
              <a:rPr b="0" i="0" lang="en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— threading toward the 89.8 GiB/s chip-wide ceiling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